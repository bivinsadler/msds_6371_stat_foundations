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1"/>
  </p:sldMasterIdLst>
  <p:notesMasterIdLst>
    <p:notesMasterId r:id="rId16"/>
  </p:notesMasterIdLst>
  <p:sldIdLst>
    <p:sldId id="270" r:id="rId2"/>
    <p:sldId id="333" r:id="rId3"/>
    <p:sldId id="341" r:id="rId4"/>
    <p:sldId id="342" r:id="rId5"/>
    <p:sldId id="337" r:id="rId6"/>
    <p:sldId id="338" r:id="rId7"/>
    <p:sldId id="258" r:id="rId8"/>
    <p:sldId id="259" r:id="rId9"/>
    <p:sldId id="260" r:id="rId10"/>
    <p:sldId id="257" r:id="rId11"/>
    <p:sldId id="334" r:id="rId12"/>
    <p:sldId id="336" r:id="rId13"/>
    <p:sldId id="335" r:id="rId14"/>
    <p:sldId id="272" r:id="rId15"/>
  </p:sldIdLst>
  <p:sldSz cx="12192000" cy="6858000"/>
  <p:notesSz cx="6858000" cy="9144000"/>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M User" initials="LM" lastIdx="1" clrIdx="0">
    <p:extLst>
      <p:ext uri="{19B8F6BF-5375-455C-9EA6-DF929625EA0E}">
        <p15:presenceInfo xmlns:p15="http://schemas.microsoft.com/office/powerpoint/2012/main" userId="LM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4CA1"/>
    <a:srgbClr val="6C6C6C"/>
    <a:srgbClr val="013334"/>
    <a:srgbClr val="10069F"/>
    <a:srgbClr val="4E2A84"/>
    <a:srgbClr val="582E8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39" autoAdjust="0"/>
    <p:restoredTop sz="88503" autoAdjust="0"/>
  </p:normalViewPr>
  <p:slideViewPr>
    <p:cSldViewPr>
      <p:cViewPr varScale="1">
        <p:scale>
          <a:sx n="112" d="100"/>
          <a:sy n="112" d="100"/>
        </p:scale>
        <p:origin x="808" y="20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3406"/>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tags" Target="tags/tag1.xml"/><Relationship Id="rId18" Type="http://schemas.openxmlformats.org/officeDocument/2006/relationships/commentAuthors" Target="commentAuthors.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8570D6A-FB49-A14C-9B03-21B3417100CD}" type="datetimeFigureOut">
              <a:rPr lang="en-US" smtClean="0"/>
              <a:t>4/23/25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4CB6C83-B894-2740-9986-97D8BB6F6D98}" type="slidenum">
              <a:rPr lang="en-US" smtClean="0"/>
              <a:t>‹#›</a:t>
            </a:fld>
            <a:endParaRPr lang="en-US" dirty="0"/>
          </a:p>
        </p:txBody>
      </p:sp>
    </p:spTree>
    <p:extLst>
      <p:ext uri="{BB962C8B-B14F-4D97-AF65-F5344CB8AC3E}">
        <p14:creationId xmlns:p14="http://schemas.microsoft.com/office/powerpoint/2010/main" val="1801669850"/>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1828800"/>
            <a:ext cx="10363200" cy="900546"/>
          </a:xfrm>
        </p:spPr>
        <p:txBody>
          <a:bodyPr anchor="b" anchorCtr="0"/>
          <a:lstStyle>
            <a:lvl1pPr algn="l">
              <a:defRPr/>
            </a:lvl1pPr>
          </a:lstStyle>
          <a:p>
            <a:r>
              <a:rPr lang="en-US" dirty="0"/>
              <a:t>Click To Edit Title</a:t>
            </a:r>
          </a:p>
        </p:txBody>
      </p:sp>
      <p:cxnSp>
        <p:nvCxnSpPr>
          <p:cNvPr id="8" name="Straight Connector 7"/>
          <p:cNvCxnSpPr/>
          <p:nvPr userDrawn="1"/>
        </p:nvCxnSpPr>
        <p:spPr>
          <a:xfrm>
            <a:off x="914400" y="2819400"/>
            <a:ext cx="103632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ubtitle 2"/>
          <p:cNvSpPr>
            <a:spLocks noGrp="1"/>
          </p:cNvSpPr>
          <p:nvPr>
            <p:ph type="subTitle" idx="1" hasCustomPrompt="1"/>
          </p:nvPr>
        </p:nvSpPr>
        <p:spPr>
          <a:xfrm>
            <a:off x="914400" y="2895600"/>
            <a:ext cx="10363200" cy="1752600"/>
          </a:xfr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Subtitle</a:t>
            </a:r>
          </a:p>
        </p:txBody>
      </p:sp>
      <p:pic>
        <p:nvPicPr>
          <p:cNvPr id="11" name="Picture 10" descr="C:\Users\njones\Dropbox (2U)\Work\Designing Slides\SMU\Design Brief\logo\logo_datasci_SMU.png">
            <a:extLst>
              <a:ext uri="{FF2B5EF4-FFF2-40B4-BE49-F238E27FC236}">
                <a16:creationId xmlns:a16="http://schemas.microsoft.com/office/drawing/2014/main" id="{6C9BC461-74A3-3B43-A311-BC67E0EEF880}"/>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06402" y="6386563"/>
            <a:ext cx="2348007" cy="2072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51382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cxnSp>
        <p:nvCxnSpPr>
          <p:cNvPr id="8" name="Straight Connector 7"/>
          <p:cNvCxnSpPr/>
          <p:nvPr userDrawn="1"/>
        </p:nvCxnSpPr>
        <p:spPr>
          <a:xfrm>
            <a:off x="609600" y="1293970"/>
            <a:ext cx="109728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8239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4406903"/>
            <a:ext cx="10363200" cy="1362075"/>
          </a:xfrm>
        </p:spPr>
        <p:txBody>
          <a:bodyPr anchor="t"/>
          <a:lstStyle>
            <a:lvl1pPr algn="l">
              <a:defRPr sz="4000" b="0" cap="none"/>
            </a:lvl1pPr>
          </a:lstStyle>
          <a:p>
            <a:r>
              <a:rPr lang="en-US" dirty="0"/>
              <a:t>Click To Edit Master Title Style</a:t>
            </a:r>
          </a:p>
        </p:txBody>
      </p:sp>
      <p:sp>
        <p:nvSpPr>
          <p:cNvPr id="3" name="Text Placeholder 2"/>
          <p:cNvSpPr>
            <a:spLocks noGrp="1"/>
          </p:cNvSpPr>
          <p:nvPr>
            <p:ph type="body" idx="1" hasCustomPrompt="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cxnSp>
        <p:nvCxnSpPr>
          <p:cNvPr id="7" name="Straight Connector 6"/>
          <p:cNvCxnSpPr/>
          <p:nvPr userDrawn="1"/>
        </p:nvCxnSpPr>
        <p:spPr>
          <a:xfrm>
            <a:off x="963084" y="4406900"/>
            <a:ext cx="103632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4441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3200"/>
            </a:lvl1pPr>
            <a:lvl2pPr>
              <a:defRPr sz="2800"/>
            </a:lvl2pPr>
            <a:lvl3pPr>
              <a:defRPr sz="2400"/>
            </a:lvl3pPr>
            <a:lvl4pPr>
              <a:defRPr sz="20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600203"/>
            <a:ext cx="5384800" cy="4525963"/>
          </a:xfrm>
        </p:spPr>
        <p:txBody>
          <a:bodyPr/>
          <a:lstStyle>
            <a:lvl1pPr>
              <a:defRPr sz="3200"/>
            </a:lvl1pPr>
            <a:lvl2pPr>
              <a:defRPr sz="2800"/>
            </a:lvl2pPr>
            <a:lvl3pPr>
              <a:defRPr sz="2400"/>
            </a:lvl3pPr>
            <a:lvl4pPr>
              <a:defRPr sz="20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p:cNvCxnSpPr/>
          <p:nvPr userDrawn="1"/>
        </p:nvCxnSpPr>
        <p:spPr>
          <a:xfrm>
            <a:off x="609600" y="1293970"/>
            <a:ext cx="109728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9440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609600" y="1417638"/>
            <a:ext cx="5386917" cy="90646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09600" y="2590800"/>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93369" y="1417638"/>
            <a:ext cx="5389033" cy="90646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22644" y="2590800"/>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p:cNvCxnSpPr/>
          <p:nvPr userDrawn="1"/>
        </p:nvCxnSpPr>
        <p:spPr>
          <a:xfrm>
            <a:off x="609600" y="1293970"/>
            <a:ext cx="109728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9070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Tree>
    <p:extLst>
      <p:ext uri="{BB962C8B-B14F-4D97-AF65-F5344CB8AC3E}">
        <p14:creationId xmlns:p14="http://schemas.microsoft.com/office/powerpoint/2010/main" val="15618349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with Horizontal Ru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cxnSp>
        <p:nvCxnSpPr>
          <p:cNvPr id="3" name="Straight Connector 2"/>
          <p:cNvCxnSpPr/>
          <p:nvPr userDrawn="1"/>
        </p:nvCxnSpPr>
        <p:spPr>
          <a:xfrm>
            <a:off x="609600" y="1293970"/>
            <a:ext cx="109728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75669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74179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End Slide">
    <p:spTree>
      <p:nvGrpSpPr>
        <p:cNvPr id="1" name=""/>
        <p:cNvGrpSpPr/>
        <p:nvPr/>
      </p:nvGrpSpPr>
      <p:grpSpPr>
        <a:xfrm>
          <a:off x="0" y="0"/>
          <a:ext cx="0" cy="0"/>
          <a:chOff x="0" y="0"/>
          <a:chExt cx="0" cy="0"/>
        </a:xfrm>
      </p:grpSpPr>
      <p:pic>
        <p:nvPicPr>
          <p:cNvPr id="4" name="Picture 3" descr="C:\Users\njones\Dropbox (2U)\Work\Designing Slides\SMU\Design Brief\logo\logo_datasci_SMU.png">
            <a:extLst>
              <a:ext uri="{FF2B5EF4-FFF2-40B4-BE49-F238E27FC236}">
                <a16:creationId xmlns:a16="http://schemas.microsoft.com/office/drawing/2014/main" id="{A756B8E1-2372-7141-AD48-1954EB22C32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209800" y="2778677"/>
            <a:ext cx="7772399" cy="6860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57382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ltGray">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28600"/>
            <a:ext cx="10972800" cy="114300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Rectangle 11"/>
          <p:cNvSpPr/>
          <p:nvPr userDrawn="1"/>
        </p:nvSpPr>
        <p:spPr>
          <a:xfrm>
            <a:off x="0" y="6779932"/>
            <a:ext cx="12192000" cy="91440"/>
          </a:xfrm>
          <a:prstGeom prst="rect">
            <a:avLst/>
          </a:prstGeom>
          <a:solidFill>
            <a:srgbClr val="35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4" name="Rectangle 13"/>
          <p:cNvSpPr/>
          <p:nvPr userDrawn="1"/>
        </p:nvSpPr>
        <p:spPr>
          <a:xfrm>
            <a:off x="0" y="0"/>
            <a:ext cx="12192000" cy="304800"/>
          </a:xfrm>
          <a:prstGeom prst="rect">
            <a:avLst/>
          </a:prstGeom>
          <a:solidFill>
            <a:srgbClr val="35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Tree>
    <p:extLst>
      <p:ext uri="{BB962C8B-B14F-4D97-AF65-F5344CB8AC3E}">
        <p14:creationId xmlns:p14="http://schemas.microsoft.com/office/powerpoint/2010/main" val="122329842"/>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6" r:id="rId9"/>
  </p:sldLayoutIdLst>
  <p:txStyles>
    <p:titleStyle>
      <a:lvl1pPr algn="ctr" defTabSz="914400" rtl="0" eaLnBrk="1" latinLnBrk="0" hangingPunct="1">
        <a:spcBef>
          <a:spcPct val="0"/>
        </a:spcBef>
        <a:buNone/>
        <a:defRPr sz="4400" b="0" i="0" u="none" kern="1200">
          <a:solidFill>
            <a:schemeClr val="tx1"/>
          </a:solidFill>
          <a:latin typeface="+mj-lt"/>
          <a:ea typeface="+mj-ea"/>
          <a:cs typeface="+mj-cs"/>
        </a:defRPr>
      </a:lvl1pPr>
    </p:titleStyle>
    <p:bodyStyle>
      <a:lvl1pPr marL="342900" indent="-342900" algn="l" defTabSz="914400" rtl="0" eaLnBrk="1" latinLnBrk="0" hangingPunct="1">
        <a:spcBef>
          <a:spcPts val="600"/>
        </a:spcBef>
        <a:buFont typeface="Arial" charset="0"/>
        <a:buChar char="•"/>
        <a:defRPr sz="3200" kern="1200">
          <a:solidFill>
            <a:schemeClr val="tx1"/>
          </a:solidFill>
          <a:latin typeface="+mn-lt"/>
          <a:ea typeface="+mn-ea"/>
          <a:cs typeface="+mn-cs"/>
        </a:defRPr>
      </a:lvl1pPr>
      <a:lvl2pPr marL="742950" indent="-285750" algn="l" defTabSz="914400" rtl="0" eaLnBrk="1" latinLnBrk="0" hangingPunct="1">
        <a:spcBef>
          <a:spcPts val="600"/>
        </a:spcBef>
        <a:buFont typeface="Arial" charset="0"/>
        <a:buChar char="•"/>
        <a:defRPr sz="2800" b="0" i="0" u="none" kern="1200">
          <a:solidFill>
            <a:schemeClr val="tx1"/>
          </a:solidFill>
          <a:latin typeface="+mn-lt"/>
          <a:ea typeface="+mn-ea"/>
          <a:cs typeface="+mn-cs"/>
        </a:defRPr>
      </a:lvl2pPr>
      <a:lvl3pPr marL="1143000" indent="-228600" algn="l" defTabSz="914400" rtl="0" eaLnBrk="1" latinLnBrk="0" hangingPunct="1">
        <a:spcBef>
          <a:spcPts val="600"/>
        </a:spcBef>
        <a:buFont typeface="Arial" charset="0"/>
        <a:buChar char="•"/>
        <a:defRPr sz="2400" kern="1200">
          <a:solidFill>
            <a:schemeClr val="tx1"/>
          </a:solidFill>
          <a:latin typeface="+mn-lt"/>
          <a:ea typeface="+mn-ea"/>
          <a:cs typeface="+mn-cs"/>
        </a:defRPr>
      </a:lvl3pPr>
      <a:lvl4pPr marL="1600200" indent="-228600" algn="l" defTabSz="914400" rtl="0" eaLnBrk="1" latinLnBrk="0" hangingPunct="1">
        <a:spcBef>
          <a:spcPts val="600"/>
        </a:spcBef>
        <a:buFont typeface="Arial"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Font typeface="Arial"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hyperlink" Target="http://historymatters.gmu.edu/d/5168/" TargetMode="External"/><Relationship Id="rId4" Type="http://schemas.openxmlformats.org/officeDocument/2006/relationships/image" Target="../media/image6.tif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C4CB0-3087-9D43-85D3-6DA36180D5A4}"/>
              </a:ext>
            </a:extLst>
          </p:cNvPr>
          <p:cNvSpPr>
            <a:spLocks noGrp="1"/>
          </p:cNvSpPr>
          <p:nvPr>
            <p:ph type="ctrTitle"/>
          </p:nvPr>
        </p:nvSpPr>
        <p:spPr/>
        <p:txBody>
          <a:bodyPr/>
          <a:lstStyle/>
          <a:p>
            <a:r>
              <a:rPr lang="en-US" dirty="0"/>
              <a:t>For Live Session Assignment</a:t>
            </a:r>
            <a:r>
              <a:rPr lang="en-US" dirty="0">
                <a:sym typeface="Wingdings" pitchFamily="2" charset="2"/>
              </a:rPr>
              <a:t> (FLS)</a:t>
            </a:r>
            <a:r>
              <a:rPr lang="en-US" dirty="0"/>
              <a:t> </a:t>
            </a:r>
          </a:p>
        </p:txBody>
      </p:sp>
      <p:sp>
        <p:nvSpPr>
          <p:cNvPr id="5" name="Subtitle 4"/>
          <p:cNvSpPr>
            <a:spLocks noGrp="1"/>
          </p:cNvSpPr>
          <p:nvPr>
            <p:ph type="subTitle" idx="1"/>
          </p:nvPr>
        </p:nvSpPr>
        <p:spPr/>
        <p:txBody>
          <a:bodyPr/>
          <a:lstStyle/>
          <a:p>
            <a:r>
              <a:rPr lang="en-US" dirty="0"/>
              <a:t>Unit 1</a:t>
            </a:r>
          </a:p>
        </p:txBody>
      </p:sp>
    </p:spTree>
    <p:extLst>
      <p:ext uri="{BB962C8B-B14F-4D97-AF65-F5344CB8AC3E}">
        <p14:creationId xmlns:p14="http://schemas.microsoft.com/office/powerpoint/2010/main" val="2742512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5CDBF-CA05-B94C-A90A-7CD156AA9F7C}"/>
              </a:ext>
            </a:extLst>
          </p:cNvPr>
          <p:cNvSpPr>
            <a:spLocks noGrp="1"/>
          </p:cNvSpPr>
          <p:nvPr>
            <p:ph type="title"/>
          </p:nvPr>
        </p:nvSpPr>
        <p:spPr/>
        <p:txBody>
          <a:bodyPr/>
          <a:lstStyle/>
          <a:p>
            <a:r>
              <a:rPr lang="en-US" dirty="0"/>
              <a:t>Philosophy</a:t>
            </a:r>
          </a:p>
        </p:txBody>
      </p:sp>
      <p:sp>
        <p:nvSpPr>
          <p:cNvPr id="3" name="Content Placeholder 2">
            <a:extLst>
              <a:ext uri="{FF2B5EF4-FFF2-40B4-BE49-F238E27FC236}">
                <a16:creationId xmlns:a16="http://schemas.microsoft.com/office/drawing/2014/main" id="{8BAF0FC9-3134-0F4C-B707-A2C723352008}"/>
              </a:ext>
            </a:extLst>
          </p:cNvPr>
          <p:cNvSpPr>
            <a:spLocks noGrp="1"/>
          </p:cNvSpPr>
          <p:nvPr>
            <p:ph idx="1"/>
          </p:nvPr>
        </p:nvSpPr>
        <p:spPr>
          <a:xfrm>
            <a:off x="533400" y="1556426"/>
            <a:ext cx="11201400" cy="5194570"/>
          </a:xfrm>
        </p:spPr>
        <p:txBody>
          <a:bodyPr>
            <a:normAutofit fontScale="55000" lnSpcReduction="20000"/>
          </a:bodyPr>
          <a:lstStyle/>
          <a:p>
            <a:r>
              <a:rPr lang="en-US" dirty="0"/>
              <a:t>On the following slide(s) you will see activities and the estimated / expected time that the student should spend on that activity. </a:t>
            </a:r>
          </a:p>
          <a:p>
            <a:pPr marL="0" indent="0">
              <a:buNone/>
            </a:pPr>
            <a:endParaRPr lang="en-US" dirty="0"/>
          </a:p>
          <a:p>
            <a:r>
              <a:rPr lang="en-US" dirty="0"/>
              <a:t>It is important to note that the goal of the activities is to become familiar with the methods, ideas and implementation involved in that activity so that we can efficiently iron out all the details in live session.  </a:t>
            </a:r>
          </a:p>
          <a:p>
            <a:pPr marL="0" indent="0">
              <a:buNone/>
            </a:pPr>
            <a:endParaRPr lang="en-US" dirty="0"/>
          </a:p>
          <a:p>
            <a:r>
              <a:rPr lang="en-US" dirty="0"/>
              <a:t>Analogy: You are building the pieces </a:t>
            </a:r>
            <a:r>
              <a:rPr lang="en-US"/>
              <a:t>of the puzzle </a:t>
            </a:r>
            <a:r>
              <a:rPr lang="en-US" dirty="0"/>
              <a:t>in the For Live Session Activity and we are putting them together to see the big picture in live session. </a:t>
            </a:r>
          </a:p>
          <a:p>
            <a:pPr marL="0" indent="0">
              <a:buNone/>
            </a:pPr>
            <a:endParaRPr lang="en-US" dirty="0"/>
          </a:p>
          <a:p>
            <a:r>
              <a:rPr lang="en-US" dirty="0"/>
              <a:t>It is </a:t>
            </a:r>
            <a:r>
              <a:rPr lang="en-US" b="1" i="1" u="sng" dirty="0"/>
              <a:t>not</a:t>
            </a:r>
            <a:r>
              <a:rPr lang="en-US" dirty="0"/>
              <a:t> expected that the student have all the correct answers.  The expectation is that each student spend the allotted time (indicated next to the activity) on each activity so that we can discuss the details in live session.  </a:t>
            </a:r>
          </a:p>
          <a:p>
            <a:pPr marL="0" indent="0">
              <a:buNone/>
            </a:pPr>
            <a:endParaRPr lang="en-US" dirty="0"/>
          </a:p>
          <a:p>
            <a:r>
              <a:rPr lang="en-US" dirty="0"/>
              <a:t>If you max out the indicated time without finishing the activity and you don’t have more time to finish, simply write up what you have learned by that time and record any questions you might have and we will address those in live session!  </a:t>
            </a:r>
          </a:p>
          <a:p>
            <a:pPr marL="0" indent="0">
              <a:buNone/>
            </a:pPr>
            <a:endParaRPr lang="en-US" dirty="0"/>
          </a:p>
          <a:p>
            <a:r>
              <a:rPr lang="en-US" dirty="0"/>
              <a:t>We want to develop the questions before live session so that we can use the live session time to effectively answer them!  </a:t>
            </a:r>
          </a:p>
          <a:p>
            <a:pPr marL="971550" lvl="1" indent="-514350">
              <a:buAutoNum type="arabicPeriod"/>
            </a:pPr>
            <a:endParaRPr lang="en-US" dirty="0"/>
          </a:p>
        </p:txBody>
      </p:sp>
    </p:spTree>
    <p:extLst>
      <p:ext uri="{BB962C8B-B14F-4D97-AF65-F5344CB8AC3E}">
        <p14:creationId xmlns:p14="http://schemas.microsoft.com/office/powerpoint/2010/main" val="541346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A1499-9EE8-CC42-849A-71C9FA960E9B}"/>
              </a:ext>
            </a:extLst>
          </p:cNvPr>
          <p:cNvSpPr>
            <a:spLocks noGrp="1"/>
          </p:cNvSpPr>
          <p:nvPr>
            <p:ph type="title"/>
          </p:nvPr>
        </p:nvSpPr>
        <p:spPr>
          <a:xfrm>
            <a:off x="381000" y="2362200"/>
            <a:ext cx="11429999" cy="1325563"/>
          </a:xfrm>
        </p:spPr>
        <p:txBody>
          <a:bodyPr>
            <a:noAutofit/>
          </a:bodyPr>
          <a:lstStyle/>
          <a:p>
            <a:br>
              <a:rPr lang="en-US" dirty="0"/>
            </a:br>
            <a:r>
              <a:rPr lang="en-US" dirty="0"/>
              <a:t>Question </a:t>
            </a:r>
            <a:r>
              <a:rPr lang="en-US"/>
              <a:t>1 is </a:t>
            </a:r>
            <a:r>
              <a:rPr lang="en-US" dirty="0"/>
              <a:t>the </a:t>
            </a:r>
            <a:br>
              <a:rPr lang="en-US" dirty="0"/>
            </a:br>
            <a:r>
              <a:rPr lang="en-US" dirty="0"/>
              <a:t>Quick </a:t>
            </a:r>
            <a:r>
              <a:rPr lang="en-US"/>
              <a:t>Quiz Questions!</a:t>
            </a:r>
            <a:br>
              <a:rPr lang="en-US"/>
            </a:br>
            <a:r>
              <a:rPr lang="en-US" dirty="0"/>
              <a:t>(&lt;= 1 hour)</a:t>
            </a:r>
          </a:p>
        </p:txBody>
      </p:sp>
    </p:spTree>
    <p:extLst>
      <p:ext uri="{BB962C8B-B14F-4D97-AF65-F5344CB8AC3E}">
        <p14:creationId xmlns:p14="http://schemas.microsoft.com/office/powerpoint/2010/main" val="1031210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95435-00EA-A545-A9B3-97B878F91181}"/>
              </a:ext>
            </a:extLst>
          </p:cNvPr>
          <p:cNvSpPr>
            <a:spLocks noGrp="1"/>
          </p:cNvSpPr>
          <p:nvPr>
            <p:ph type="title"/>
          </p:nvPr>
        </p:nvSpPr>
        <p:spPr/>
        <p:txBody>
          <a:bodyPr/>
          <a:lstStyle/>
          <a:p>
            <a:r>
              <a:rPr lang="en-US" dirty="0"/>
              <a:t>Quick Quiz Question 1 (QQ1)</a:t>
            </a:r>
          </a:p>
        </p:txBody>
      </p:sp>
      <p:pic>
        <p:nvPicPr>
          <p:cNvPr id="4" name="Picture 3" descr="Slide 4 visual. Quick Quiz Question 1 (QQ1)" title="Slide 4 visual">
            <a:extLst>
              <a:ext uri="{FF2B5EF4-FFF2-40B4-BE49-F238E27FC236}">
                <a16:creationId xmlns:a16="http://schemas.microsoft.com/office/drawing/2014/main" id="{F2EDE1F7-72ED-0D4D-B07C-F4E6AC1267C1}"/>
              </a:ext>
            </a:extLst>
          </p:cNvPr>
          <p:cNvPicPr>
            <a:picLocks noChangeAspect="1"/>
          </p:cNvPicPr>
          <p:nvPr/>
        </p:nvPicPr>
        <p:blipFill>
          <a:blip r:embed="rId2"/>
          <a:stretch>
            <a:fillRect/>
          </a:stretch>
        </p:blipFill>
        <p:spPr>
          <a:xfrm>
            <a:off x="1917700" y="2037773"/>
            <a:ext cx="8356600" cy="3429000"/>
          </a:xfrm>
          <a:prstGeom prst="rect">
            <a:avLst/>
          </a:prstGeom>
        </p:spPr>
      </p:pic>
    </p:spTree>
    <p:extLst>
      <p:ext uri="{BB962C8B-B14F-4D97-AF65-F5344CB8AC3E}">
        <p14:creationId xmlns:p14="http://schemas.microsoft.com/office/powerpoint/2010/main" val="450303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95435-00EA-A545-A9B3-97B878F91181}"/>
              </a:ext>
            </a:extLst>
          </p:cNvPr>
          <p:cNvSpPr>
            <a:spLocks noGrp="1"/>
          </p:cNvSpPr>
          <p:nvPr>
            <p:ph type="title"/>
          </p:nvPr>
        </p:nvSpPr>
        <p:spPr/>
        <p:txBody>
          <a:bodyPr/>
          <a:lstStyle/>
          <a:p>
            <a:r>
              <a:rPr lang="en-US" dirty="0"/>
              <a:t>Quick Quiz Question 2 (QQ2)</a:t>
            </a:r>
          </a:p>
        </p:txBody>
      </p:sp>
      <p:pic>
        <p:nvPicPr>
          <p:cNvPr id="3" name="Picture 2" descr="Slide 5 visual. Quick Quiz Question 2 (QQ2)" title="Slide 5 visual">
            <a:extLst>
              <a:ext uri="{FF2B5EF4-FFF2-40B4-BE49-F238E27FC236}">
                <a16:creationId xmlns:a16="http://schemas.microsoft.com/office/drawing/2014/main" id="{92373BE0-A076-3C4A-B309-A07759A49BCC}"/>
              </a:ext>
            </a:extLst>
          </p:cNvPr>
          <p:cNvPicPr>
            <a:picLocks noChangeAspect="1"/>
          </p:cNvPicPr>
          <p:nvPr/>
        </p:nvPicPr>
        <p:blipFill rotWithShape="1">
          <a:blip r:embed="rId2"/>
          <a:srcRect t="9589"/>
          <a:stretch/>
        </p:blipFill>
        <p:spPr>
          <a:xfrm>
            <a:off x="1778000" y="2327564"/>
            <a:ext cx="8636000" cy="3766127"/>
          </a:xfrm>
          <a:prstGeom prst="rect">
            <a:avLst/>
          </a:prstGeom>
        </p:spPr>
      </p:pic>
    </p:spTree>
    <p:extLst>
      <p:ext uri="{BB962C8B-B14F-4D97-AF65-F5344CB8AC3E}">
        <p14:creationId xmlns:p14="http://schemas.microsoft.com/office/powerpoint/2010/main" val="35078644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95435-00EA-A545-A9B3-97B878F91181}"/>
              </a:ext>
            </a:extLst>
          </p:cNvPr>
          <p:cNvSpPr>
            <a:spLocks noGrp="1"/>
          </p:cNvSpPr>
          <p:nvPr>
            <p:ph type="title"/>
          </p:nvPr>
        </p:nvSpPr>
        <p:spPr/>
        <p:txBody>
          <a:bodyPr/>
          <a:lstStyle/>
          <a:p>
            <a:r>
              <a:rPr lang="en-US" dirty="0"/>
              <a:t>Quick Quiz Question 3 (QQ3)</a:t>
            </a:r>
          </a:p>
        </p:txBody>
      </p:sp>
      <p:pic>
        <p:nvPicPr>
          <p:cNvPr id="3" name="Picture 2" descr="Slide 6 visual. Quick Quiz Question 3 (QQ3)" title="Slide 6 visual">
            <a:extLst>
              <a:ext uri="{FF2B5EF4-FFF2-40B4-BE49-F238E27FC236}">
                <a16:creationId xmlns:a16="http://schemas.microsoft.com/office/drawing/2014/main" id="{7A929460-9843-B247-964B-A855ACC75759}"/>
              </a:ext>
            </a:extLst>
          </p:cNvPr>
          <p:cNvPicPr>
            <a:picLocks noChangeAspect="1"/>
          </p:cNvPicPr>
          <p:nvPr/>
        </p:nvPicPr>
        <p:blipFill rotWithShape="1">
          <a:blip r:embed="rId2"/>
          <a:srcRect t="6351"/>
          <a:stretch/>
        </p:blipFill>
        <p:spPr>
          <a:xfrm>
            <a:off x="2401448" y="1690689"/>
            <a:ext cx="7389104" cy="4630304"/>
          </a:xfrm>
          <a:prstGeom prst="rect">
            <a:avLst/>
          </a:prstGeom>
        </p:spPr>
      </p:pic>
    </p:spTree>
    <p:extLst>
      <p:ext uri="{BB962C8B-B14F-4D97-AF65-F5344CB8AC3E}">
        <p14:creationId xmlns:p14="http://schemas.microsoft.com/office/powerpoint/2010/main" val="22000575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E2164FB9-D7D2-6B4F-8D30-725BBD3FD3B7}"/>
                  </a:ext>
                </a:extLst>
              </p:cNvPr>
              <p:cNvSpPr>
                <a:spLocks noGrp="1"/>
              </p:cNvSpPr>
              <p:nvPr>
                <p:ph type="title"/>
              </p:nvPr>
            </p:nvSpPr>
            <p:spPr/>
            <p:txBody>
              <a:bodyPr/>
              <a:lstStyle/>
              <a:p>
                <a:r>
                  <a:rPr lang="en-US" dirty="0"/>
                  <a:t>Question 2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.5 </m:t>
                    </m:r>
                    <m:r>
                      <a:rPr lang="en-US" b="0" i="1" smtClean="0">
                        <a:latin typeface="Cambria Math" panose="02040503050406030204" pitchFamily="18" charset="0"/>
                        <a:ea typeface="Cambria Math" panose="02040503050406030204" pitchFamily="18" charset="0"/>
                      </a:rPr>
                      <m:t>h𝑜𝑢𝑟𝑠</m:t>
                    </m:r>
                    <m:r>
                      <a:rPr lang="en-US" b="0" i="1" smtClean="0">
                        <a:latin typeface="Cambria Math" panose="02040503050406030204" pitchFamily="18" charset="0"/>
                        <a:ea typeface="Cambria Math" panose="02040503050406030204" pitchFamily="18" charset="0"/>
                      </a:rPr>
                      <m:t>)</m:t>
                    </m:r>
                  </m:oMath>
                </a14:m>
                <a:endParaRPr lang="en-US" dirty="0"/>
              </a:p>
            </p:txBody>
          </p:sp>
        </mc:Choice>
        <mc:Fallback xmlns="">
          <p:sp>
            <p:nvSpPr>
              <p:cNvPr id="2" name="Title 1">
                <a:extLst>
                  <a:ext uri="{FF2B5EF4-FFF2-40B4-BE49-F238E27FC236}">
                    <a16:creationId xmlns:a16="http://schemas.microsoft.com/office/drawing/2014/main" id="{E2164FB9-D7D2-6B4F-8D30-725BBD3FD3B7}"/>
                  </a:ext>
                </a:extLst>
              </p:cNvPr>
              <p:cNvSpPr>
                <a:spLocks noGrp="1" noRot="1" noChangeAspect="1" noMove="1" noResize="1" noEditPoints="1" noAdjustHandles="1" noChangeArrowheads="1" noChangeShapeType="1" noTextEdit="1"/>
              </p:cNvSpPr>
              <p:nvPr>
                <p:ph type="title"/>
              </p:nvPr>
            </p:nvSpPr>
            <p:spPr>
              <a:blipFill>
                <a:blip r:embed="rId2"/>
                <a:stretch>
                  <a:fillRect b="-8791"/>
                </a:stretch>
              </a:blipFill>
            </p:spPr>
            <p:txBody>
              <a:bodyPr/>
              <a:lstStyle/>
              <a:p>
                <a:r>
                  <a:rPr lang="en-US">
                    <a:noFill/>
                  </a:rPr>
                  <a:t> </a:t>
                </a:r>
              </a:p>
            </p:txBody>
          </p:sp>
        </mc:Fallback>
      </mc:AlternateContent>
      <p:sp>
        <p:nvSpPr>
          <p:cNvPr id="3" name="Content Placeholder 2">
            <a:extLst>
              <a:ext uri="{FF2B5EF4-FFF2-40B4-BE49-F238E27FC236}">
                <a16:creationId xmlns:a16="http://schemas.microsoft.com/office/drawing/2014/main" id="{E8BCA2EC-6792-5645-8E33-D3ED75B06D03}"/>
              </a:ext>
            </a:extLst>
          </p:cNvPr>
          <p:cNvSpPr>
            <a:spLocks noGrp="1"/>
          </p:cNvSpPr>
          <p:nvPr>
            <p:ph idx="1"/>
          </p:nvPr>
        </p:nvSpPr>
        <p:spPr/>
        <p:txBody>
          <a:bodyPr>
            <a:normAutofit/>
          </a:bodyPr>
          <a:lstStyle/>
          <a:p>
            <a:pPr lvl="0"/>
            <a:r>
              <a:rPr lang="en-US" dirty="0"/>
              <a:t>What is the difference between a randomized experiment and a random sample?  Under what type of study/sample can a causal inference be made? </a:t>
            </a:r>
          </a:p>
          <a:p>
            <a:pPr marL="0" indent="0">
              <a:buNone/>
            </a:pPr>
            <a:endParaRPr lang="en-US" dirty="0"/>
          </a:p>
        </p:txBody>
      </p:sp>
    </p:spTree>
    <p:extLst>
      <p:ext uri="{BB962C8B-B14F-4D97-AF65-F5344CB8AC3E}">
        <p14:creationId xmlns:p14="http://schemas.microsoft.com/office/powerpoint/2010/main" val="1076543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53A308F9-2852-AB46-A678-FC46800371BA}"/>
                  </a:ext>
                </a:extLst>
              </p:cNvPr>
              <p:cNvSpPr>
                <a:spLocks noGrp="1"/>
              </p:cNvSpPr>
              <p:nvPr>
                <p:ph type="title"/>
              </p:nvPr>
            </p:nvSpPr>
            <p:spPr/>
            <p:txBody>
              <a:bodyPr/>
              <a:lstStyle/>
              <a:p>
                <a:r>
                  <a:rPr lang="en-US" dirty="0"/>
                  <a:t>Questions 3 (</a:t>
                </a:r>
                <a14:m>
                  <m:oMath xmlns:m="http://schemas.openxmlformats.org/officeDocument/2006/math">
                    <m:r>
                      <a:rPr lang="en-US" i="1">
                        <a:latin typeface="Cambria Math" panose="02040503050406030204" pitchFamily="18" charset="0"/>
                        <a:ea typeface="Cambria Math" panose="02040503050406030204" pitchFamily="18" charset="0"/>
                      </a:rPr>
                      <m:t>&lt;</m:t>
                    </m:r>
                    <m:r>
                      <a:rPr lang="en-US" b="0" i="1" smtClean="0">
                        <a:latin typeface="Cambria Math" panose="02040503050406030204" pitchFamily="18" charset="0"/>
                        <a:ea typeface="Cambria Math" panose="02040503050406030204" pitchFamily="18" charset="0"/>
                      </a:rPr>
                      <m:t>.5</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h𝑜𝑢𝑟𝑠</m:t>
                    </m:r>
                    <m:r>
                      <a:rPr lang="en-US" i="1">
                        <a:latin typeface="Cambria Math" panose="02040503050406030204" pitchFamily="18" charset="0"/>
                        <a:ea typeface="Cambria Math" panose="02040503050406030204" pitchFamily="18" charset="0"/>
                      </a:rPr>
                      <m:t>)</m:t>
                    </m:r>
                  </m:oMath>
                </a14:m>
                <a:endParaRPr lang="en-US" dirty="0"/>
              </a:p>
            </p:txBody>
          </p:sp>
        </mc:Choice>
        <mc:Fallback xmlns="">
          <p:sp>
            <p:nvSpPr>
              <p:cNvPr id="2" name="Title 1">
                <a:extLst>
                  <a:ext uri="{FF2B5EF4-FFF2-40B4-BE49-F238E27FC236}">
                    <a16:creationId xmlns:a16="http://schemas.microsoft.com/office/drawing/2014/main" id="{53A308F9-2852-AB46-A678-FC46800371BA}"/>
                  </a:ext>
                </a:extLst>
              </p:cNvPr>
              <p:cNvSpPr>
                <a:spLocks noGrp="1" noRot="1" noChangeAspect="1" noMove="1" noResize="1" noEditPoints="1" noAdjustHandles="1" noChangeArrowheads="1" noChangeShapeType="1" noTextEdit="1"/>
              </p:cNvSpPr>
              <p:nvPr>
                <p:ph type="title"/>
              </p:nvPr>
            </p:nvSpPr>
            <p:spPr>
              <a:blipFill>
                <a:blip r:embed="rId2"/>
                <a:stretch>
                  <a:fillRect b="-8791"/>
                </a:stretch>
              </a:blipFill>
            </p:spPr>
            <p:txBody>
              <a:bodyPr/>
              <a:lstStyle/>
              <a:p>
                <a:r>
                  <a:rPr lang="en-US">
                    <a:noFill/>
                  </a:rPr>
                  <a:t> </a:t>
                </a:r>
              </a:p>
            </p:txBody>
          </p:sp>
        </mc:Fallback>
      </mc:AlternateContent>
      <p:sp>
        <p:nvSpPr>
          <p:cNvPr id="3" name="Content Placeholder 2">
            <a:extLst>
              <a:ext uri="{FF2B5EF4-FFF2-40B4-BE49-F238E27FC236}">
                <a16:creationId xmlns:a16="http://schemas.microsoft.com/office/drawing/2014/main" id="{CC740959-42D6-4F4C-B419-CC3418F76B03}"/>
              </a:ext>
            </a:extLst>
          </p:cNvPr>
          <p:cNvSpPr>
            <a:spLocks noGrp="1"/>
          </p:cNvSpPr>
          <p:nvPr>
            <p:ph idx="1"/>
          </p:nvPr>
        </p:nvSpPr>
        <p:spPr>
          <a:xfrm>
            <a:off x="457200" y="1981200"/>
            <a:ext cx="7107949" cy="4351338"/>
          </a:xfrm>
        </p:spPr>
        <p:txBody>
          <a:bodyPr>
            <a:normAutofit fontScale="77500" lnSpcReduction="20000"/>
          </a:bodyPr>
          <a:lstStyle/>
          <a:p>
            <a:pPr lvl="0"/>
            <a:r>
              <a:rPr lang="en-US" dirty="0"/>
              <a:t>In 1936, the </a:t>
            </a:r>
            <a:r>
              <a:rPr lang="en-US" i="1" dirty="0"/>
              <a:t>Literary Digest </a:t>
            </a:r>
            <a:r>
              <a:rPr lang="en-US" dirty="0"/>
              <a:t>polled 1 out of every 4 Americans and concluded that Alfred Landon would win the presidential election in a </a:t>
            </a:r>
            <a:r>
              <a:rPr lang="en-US" dirty="0" err="1"/>
              <a:t>landon</a:t>
            </a:r>
            <a:r>
              <a:rPr lang="en-US" dirty="0"/>
              <a:t>-slide (pun intended:).  Of course, history turned out dramatically different (see </a:t>
            </a:r>
            <a:r>
              <a:rPr lang="en-US" u="sng" dirty="0">
                <a:hlinkClick r:id="rId3"/>
              </a:rPr>
              <a:t>http://historymatters.gmu.edu/d/5168/</a:t>
            </a:r>
            <a:r>
              <a:rPr lang="en-US" dirty="0"/>
              <a:t> for further details).  The magazine combined three sampling sources: subscribers to its magazine, phone number records, and automobile registration records.  Comment on the desired population of interest of the survey and what population the magazine actually drew from.     </a:t>
            </a:r>
          </a:p>
          <a:p>
            <a:endParaRPr lang="en-US" dirty="0"/>
          </a:p>
        </p:txBody>
      </p:sp>
      <p:pic>
        <p:nvPicPr>
          <p:cNvPr id="4" name="Picture 3" descr="Slide 8 visual. In 1936, the Literary Digest polled 1 out of every 4 Americans and concluded that Alfred Landon would win the presidential election in a landon-slide (pun intended:). Of course, history turned out dramatically different (see http://historymatters.gmu.edu/d/5168/ for further details). The magazine combined three sampling sources: subscribers to i..." title="Slide 8 visual">
            <a:extLst>
              <a:ext uri="{FF2B5EF4-FFF2-40B4-BE49-F238E27FC236}">
                <a16:creationId xmlns:a16="http://schemas.microsoft.com/office/drawing/2014/main" id="{F86AA9E7-ACEB-C549-88E6-7ABE7DC6B19B}"/>
              </a:ext>
            </a:extLst>
          </p:cNvPr>
          <p:cNvPicPr>
            <a:picLocks noChangeAspect="1"/>
          </p:cNvPicPr>
          <p:nvPr/>
        </p:nvPicPr>
        <p:blipFill>
          <a:blip r:embed="rId4"/>
          <a:stretch>
            <a:fillRect/>
          </a:stretch>
        </p:blipFill>
        <p:spPr>
          <a:xfrm>
            <a:off x="8001000" y="1767259"/>
            <a:ext cx="3344423" cy="4408558"/>
          </a:xfrm>
          <a:prstGeom prst="rect">
            <a:avLst/>
          </a:prstGeom>
        </p:spPr>
      </p:pic>
    </p:spTree>
    <p:extLst>
      <p:ext uri="{BB962C8B-B14F-4D97-AF65-F5344CB8AC3E}">
        <p14:creationId xmlns:p14="http://schemas.microsoft.com/office/powerpoint/2010/main" val="17336296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90576866-BE91-304E-AD1D-94AE5CF1351C}"/>
                  </a:ext>
                </a:extLst>
              </p:cNvPr>
              <p:cNvSpPr>
                <a:spLocks noGrp="1"/>
              </p:cNvSpPr>
              <p:nvPr>
                <p:ph type="title"/>
              </p:nvPr>
            </p:nvSpPr>
            <p:spPr/>
            <p:txBody>
              <a:bodyPr/>
              <a:lstStyle/>
              <a:p>
                <a:r>
                  <a:rPr lang="en-US" dirty="0"/>
                  <a:t>Question 4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1 hour)</a:t>
                </a:r>
              </a:p>
            </p:txBody>
          </p:sp>
        </mc:Choice>
        <mc:Fallback xmlns="">
          <p:sp>
            <p:nvSpPr>
              <p:cNvPr id="2" name="Title 1">
                <a:extLst>
                  <a:ext uri="{FF2B5EF4-FFF2-40B4-BE49-F238E27FC236}">
                    <a16:creationId xmlns:a16="http://schemas.microsoft.com/office/drawing/2014/main" id="{90576866-BE91-304E-AD1D-94AE5CF1351C}"/>
                  </a:ext>
                </a:extLst>
              </p:cNvPr>
              <p:cNvSpPr>
                <a:spLocks noGrp="1" noRot="1" noChangeAspect="1" noMove="1" noResize="1" noEditPoints="1" noAdjustHandles="1" noChangeArrowheads="1" noChangeShapeType="1" noTextEdit="1"/>
              </p:cNvSpPr>
              <p:nvPr>
                <p:ph type="title"/>
              </p:nvPr>
            </p:nvSpPr>
            <p:spPr>
              <a:blipFill>
                <a:blip r:embed="rId2"/>
                <a:stretch>
                  <a:fillRect b="-8791"/>
                </a:stretch>
              </a:blipFill>
            </p:spPr>
            <p:txBody>
              <a:bodyPr/>
              <a:lstStyle/>
              <a:p>
                <a:r>
                  <a:rPr lang="en-US">
                    <a:noFill/>
                  </a:rPr>
                  <a:t> </a:t>
                </a:r>
              </a:p>
            </p:txBody>
          </p:sp>
        </mc:Fallback>
      </mc:AlternateContent>
      <p:sp>
        <p:nvSpPr>
          <p:cNvPr id="3" name="Content Placeholder 2">
            <a:extLst>
              <a:ext uri="{FF2B5EF4-FFF2-40B4-BE49-F238E27FC236}">
                <a16:creationId xmlns:a16="http://schemas.microsoft.com/office/drawing/2014/main" id="{4742CA7B-F13C-1D46-842B-EDDA4026961A}"/>
              </a:ext>
            </a:extLst>
          </p:cNvPr>
          <p:cNvSpPr>
            <a:spLocks noGrp="1"/>
          </p:cNvSpPr>
          <p:nvPr>
            <p:ph idx="1"/>
          </p:nvPr>
        </p:nvSpPr>
        <p:spPr/>
        <p:txBody>
          <a:bodyPr>
            <a:normAutofit fontScale="77500" lnSpcReduction="20000"/>
          </a:bodyPr>
          <a:lstStyle/>
          <a:p>
            <a:pPr lvl="0"/>
            <a:r>
              <a:rPr lang="en-US" dirty="0"/>
              <a:t>Suppose we have developed a new fertilizer that is supposed to help corn yields.  This fertilizer is so potent that a small vial of it sprayed over an entire field is a sufficient dose.  We find that the new fertilizer results in an average yield of 60 more bushels over the old fertilizer with a p-value of 0.0001.  Write up a scope of inference under the following study designs that generated this data.</a:t>
            </a:r>
          </a:p>
          <a:p>
            <a:pPr lvl="1"/>
            <a:r>
              <a:rPr lang="en-US" dirty="0"/>
              <a:t>We offer the new fertilizer at a discount to customers who have purchased the old fertilizer along with a survey for them to fill out.  Some farmers send in the survey after the growing season, reporting their crop yield. From our records, we know which of these farmers used the new fertilizer and which used the old one.</a:t>
            </a:r>
          </a:p>
          <a:p>
            <a:pPr lvl="1"/>
            <a:r>
              <a:rPr lang="en-US" dirty="0"/>
              <a:t>When a customer makes an order, we randomly send them either the old or new fertilizer.  At the end of the season, some of the farmers send us a report of their yield.  Again, from our records, we know which of these farmers used the new fertilizer and which used the old.  </a:t>
            </a:r>
          </a:p>
          <a:p>
            <a:endParaRPr lang="en-US" dirty="0"/>
          </a:p>
        </p:txBody>
      </p:sp>
    </p:spTree>
    <p:extLst>
      <p:ext uri="{BB962C8B-B14F-4D97-AF65-F5344CB8AC3E}">
        <p14:creationId xmlns:p14="http://schemas.microsoft.com/office/powerpoint/2010/main" val="1959727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14B84-89C6-5649-AD53-740FFA319CE5}"/>
              </a:ext>
            </a:extLst>
          </p:cNvPr>
          <p:cNvSpPr>
            <a:spLocks noGrp="1"/>
          </p:cNvSpPr>
          <p:nvPr>
            <p:ph type="title"/>
          </p:nvPr>
        </p:nvSpPr>
        <p:spPr/>
        <p:txBody>
          <a:bodyPr/>
          <a:lstStyle/>
          <a:p>
            <a:r>
              <a:rPr lang="en-US" dirty="0"/>
              <a:t>Question / Activity 5 (2-3 hours)</a:t>
            </a:r>
          </a:p>
        </p:txBody>
      </p:sp>
      <p:sp>
        <p:nvSpPr>
          <p:cNvPr id="3" name="Content Placeholder 2">
            <a:extLst>
              <a:ext uri="{FF2B5EF4-FFF2-40B4-BE49-F238E27FC236}">
                <a16:creationId xmlns:a16="http://schemas.microsoft.com/office/drawing/2014/main" id="{F8605C0C-FC83-BC4C-ADE5-2B8C1868F479}"/>
              </a:ext>
            </a:extLst>
          </p:cNvPr>
          <p:cNvSpPr>
            <a:spLocks noGrp="1"/>
          </p:cNvSpPr>
          <p:nvPr>
            <p:ph idx="1"/>
          </p:nvPr>
        </p:nvSpPr>
        <p:spPr>
          <a:xfrm>
            <a:off x="0" y="1676400"/>
            <a:ext cx="12192000" cy="5029200"/>
          </a:xfrm>
        </p:spPr>
        <p:txBody>
          <a:bodyPr>
            <a:normAutofit lnSpcReduction="10000"/>
          </a:bodyPr>
          <a:lstStyle/>
          <a:p>
            <a:pPr marL="0" indent="0" algn="ctr">
              <a:buNone/>
            </a:pPr>
            <a:r>
              <a:rPr lang="en-US" sz="2800" dirty="0"/>
              <a:t>With respect the Creativity Study you read in the Statistical Sleuth, use the code provided to conduct a permutation test to test for a difference in mean score between those motivated intrinsically and extrinsically.</a:t>
            </a:r>
          </a:p>
          <a:p>
            <a:pPr marL="0" indent="0" algn="ctr">
              <a:buNone/>
            </a:pPr>
            <a:r>
              <a:rPr lang="en-US" sz="2800" b="1" dirty="0"/>
              <a:t>Deliverable</a:t>
            </a:r>
            <a:r>
              <a:rPr lang="en-US" sz="2800" dirty="0"/>
              <a:t>: Conduct the test in R or SAS and make a slide or slides describing the Assumption, Evidence, Probability and Decision/Conclusion.  </a:t>
            </a:r>
          </a:p>
          <a:p>
            <a:pPr marL="0" indent="0">
              <a:buNone/>
            </a:pPr>
            <a:endParaRPr lang="en-US" dirty="0"/>
          </a:p>
          <a:p>
            <a:pPr marL="0" indent="0">
              <a:buNone/>
            </a:pPr>
            <a:r>
              <a:rPr lang="en-US" dirty="0"/>
              <a:t>Recommended approach:</a:t>
            </a:r>
          </a:p>
          <a:p>
            <a:pPr lvl="1"/>
            <a:r>
              <a:rPr lang="en-US" sz="1800" dirty="0"/>
              <a:t>Reread the material in the book and really think about it. </a:t>
            </a:r>
          </a:p>
          <a:p>
            <a:pPr lvl="1"/>
            <a:r>
              <a:rPr lang="en-US" sz="1800" dirty="0"/>
              <a:t>Review the code provided and run it a few times … try to make sense of the output and how it is generated.  </a:t>
            </a:r>
          </a:p>
          <a:p>
            <a:pPr lvl="1"/>
            <a:r>
              <a:rPr lang="en-US" sz="1800" dirty="0"/>
              <a:t>Check out the video resource that fully explains the code. VERY IMPORTANT… in the ASYNCH. :) </a:t>
            </a:r>
          </a:p>
          <a:p>
            <a:pPr lvl="2"/>
            <a:r>
              <a:rPr lang="en-US" sz="1400" dirty="0"/>
              <a:t>Understanding and adapting code is a HUGE skill in Data Science... This is fun and very useful practice. </a:t>
            </a:r>
          </a:p>
          <a:p>
            <a:pPr lvl="1"/>
            <a:r>
              <a:rPr lang="en-US" sz="1800" dirty="0"/>
              <a:t>Bring your questions to Live Session and place them at the end of the PowerPoint deck.  </a:t>
            </a:r>
          </a:p>
        </p:txBody>
      </p:sp>
    </p:spTree>
    <p:extLst>
      <p:ext uri="{BB962C8B-B14F-4D97-AF65-F5344CB8AC3E}">
        <p14:creationId xmlns:p14="http://schemas.microsoft.com/office/powerpoint/2010/main" val="38122151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76CAF-641E-A545-AB1E-A0BE7A1FF036}"/>
              </a:ext>
            </a:extLst>
          </p:cNvPr>
          <p:cNvSpPr>
            <a:spLocks noGrp="1"/>
          </p:cNvSpPr>
          <p:nvPr>
            <p:ph type="title"/>
          </p:nvPr>
        </p:nvSpPr>
        <p:spPr/>
        <p:txBody>
          <a:bodyPr/>
          <a:lstStyle/>
          <a:p>
            <a:pPr algn="l"/>
            <a:r>
              <a:rPr lang="en-US" dirty="0"/>
              <a:t>Question 6: Takeaways! (~ 1 .5 Hours)</a:t>
            </a:r>
          </a:p>
        </p:txBody>
      </p:sp>
      <p:sp>
        <p:nvSpPr>
          <p:cNvPr id="3" name="Content Placeholder 2">
            <a:extLst>
              <a:ext uri="{FF2B5EF4-FFF2-40B4-BE49-F238E27FC236}">
                <a16:creationId xmlns:a16="http://schemas.microsoft.com/office/drawing/2014/main" id="{1E3CA146-5F00-F544-97FC-4BDA5AA35C64}"/>
              </a:ext>
            </a:extLst>
          </p:cNvPr>
          <p:cNvSpPr>
            <a:spLocks noGrp="1"/>
          </p:cNvSpPr>
          <p:nvPr>
            <p:ph idx="1"/>
          </p:nvPr>
        </p:nvSpPr>
        <p:spPr>
          <a:xfrm>
            <a:off x="533400" y="1825625"/>
            <a:ext cx="9657945" cy="4351338"/>
          </a:xfrm>
        </p:spPr>
        <p:txBody>
          <a:bodyPr>
            <a:normAutofit fontScale="92500" lnSpcReduction="10000"/>
          </a:bodyPr>
          <a:lstStyle/>
          <a:p>
            <a:pPr marL="0" indent="0">
              <a:buNone/>
            </a:pPr>
            <a:r>
              <a:rPr lang="en-US" dirty="0"/>
              <a:t>Please provide </a:t>
            </a:r>
            <a:r>
              <a:rPr lang="en-US" b="1" dirty="0"/>
              <a:t>at least 4 takeaways </a:t>
            </a:r>
            <a:r>
              <a:rPr lang="en-US" dirty="0"/>
              <a:t>from this section and any questions that you may have.  These questions will help design the live session for this unit.</a:t>
            </a:r>
          </a:p>
          <a:p>
            <a:pPr marL="0" indent="0">
              <a:buNone/>
            </a:pPr>
            <a:r>
              <a:rPr lang="en-US" dirty="0"/>
              <a:t> </a:t>
            </a:r>
          </a:p>
          <a:p>
            <a:pPr marL="0" indent="0">
              <a:buNone/>
            </a:pPr>
            <a:r>
              <a:rPr lang="en-US" sz="2000" i="1" dirty="0"/>
              <a:t>This question will be the last question of every For Live Session Assignment. The idea is that this deck will serve as a document that you can reference in the future to remember what was covered in this section.  For instance, this may come in handy for the Capstone and will hopefully become useful in your career.  Most immediately, it may become handy as a quick reference for your Midterm and Final!  Some students find it very useful and spend a few slides summarizing the </a:t>
            </a:r>
            <a:r>
              <a:rPr lang="en-US" sz="2000" i="1" dirty="0" err="1"/>
              <a:t>asynch</a:t>
            </a:r>
            <a:r>
              <a:rPr lang="en-US" sz="2000" i="1" dirty="0"/>
              <a:t> material while others learn different ways and only had the minimum 4 takeaways.  Either is fine and will earn you full credit for this question.  </a:t>
            </a:r>
          </a:p>
          <a:p>
            <a:pPr marL="0" indent="0">
              <a:buNone/>
            </a:pPr>
            <a:endParaRPr lang="en-US" dirty="0"/>
          </a:p>
        </p:txBody>
      </p:sp>
    </p:spTree>
    <p:extLst>
      <p:ext uri="{BB962C8B-B14F-4D97-AF65-F5344CB8AC3E}">
        <p14:creationId xmlns:p14="http://schemas.microsoft.com/office/powerpoint/2010/main" val="3904928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76CAF-641E-A545-AB1E-A0BE7A1FF036}"/>
              </a:ext>
            </a:extLst>
          </p:cNvPr>
          <p:cNvSpPr>
            <a:spLocks noGrp="1"/>
          </p:cNvSpPr>
          <p:nvPr>
            <p:ph type="title"/>
          </p:nvPr>
        </p:nvSpPr>
        <p:spPr/>
        <p:txBody>
          <a:bodyPr/>
          <a:lstStyle/>
          <a:p>
            <a:pPr algn="l"/>
            <a:r>
              <a:rPr lang="en-US"/>
              <a:t>Question 7: </a:t>
            </a:r>
            <a:r>
              <a:rPr lang="en-US" dirty="0"/>
              <a:t>Questions!</a:t>
            </a:r>
          </a:p>
        </p:txBody>
      </p:sp>
      <p:sp>
        <p:nvSpPr>
          <p:cNvPr id="3" name="Content Placeholder 2">
            <a:extLst>
              <a:ext uri="{FF2B5EF4-FFF2-40B4-BE49-F238E27FC236}">
                <a16:creationId xmlns:a16="http://schemas.microsoft.com/office/drawing/2014/main" id="{1E3CA146-5F00-F544-97FC-4BDA5AA35C64}"/>
              </a:ext>
            </a:extLst>
          </p:cNvPr>
          <p:cNvSpPr>
            <a:spLocks noGrp="1"/>
          </p:cNvSpPr>
          <p:nvPr>
            <p:ph idx="1"/>
          </p:nvPr>
        </p:nvSpPr>
        <p:spPr>
          <a:xfrm>
            <a:off x="609600" y="1905000"/>
            <a:ext cx="10820400" cy="4351338"/>
          </a:xfrm>
        </p:spPr>
        <p:txBody>
          <a:bodyPr>
            <a:normAutofit/>
          </a:bodyPr>
          <a:lstStyle/>
          <a:p>
            <a:pPr marL="0" indent="0">
              <a:buNone/>
            </a:pPr>
            <a:r>
              <a:rPr lang="en-US" dirty="0"/>
              <a:t>Please provide any question or topics of discussion that came up in this Unit!  These will help help us optimize our live session for maximum learning and takeaways!  </a:t>
            </a:r>
          </a:p>
          <a:p>
            <a:pPr marL="0" indent="0">
              <a:buNone/>
            </a:pPr>
            <a:r>
              <a:rPr lang="en-US" dirty="0"/>
              <a:t> </a:t>
            </a:r>
          </a:p>
          <a:p>
            <a:pPr marL="0" indent="0">
              <a:buNone/>
            </a:pPr>
            <a:r>
              <a:rPr lang="en-US" sz="2000" i="1" dirty="0"/>
              <a:t>This question will be the last question of every For Live Session Assignment. The idea is that this deck will serve as a document that you can reference in the future to remember what was covered in this section.  For instance, this may come in handy for the Capstone and will hopefully become useful in your career.  Most immediately, it may become handy as a quick reference for your Midterm and Final!  Some students find it very useful and spend a few slides summarizing the </a:t>
            </a:r>
            <a:r>
              <a:rPr lang="en-US" sz="2000" i="1" dirty="0" err="1"/>
              <a:t>asynch</a:t>
            </a:r>
            <a:r>
              <a:rPr lang="en-US" sz="2000" i="1" dirty="0"/>
              <a:t> material while others learn different ways and only had the minimum 4 takeaways.  Either is fine and will earn you full credit for this question.  </a:t>
            </a:r>
          </a:p>
          <a:p>
            <a:pPr marL="0" indent="0">
              <a:buNone/>
            </a:pPr>
            <a:endParaRPr lang="en-US" dirty="0"/>
          </a:p>
        </p:txBody>
      </p:sp>
    </p:spTree>
    <p:extLst>
      <p:ext uri="{BB962C8B-B14F-4D97-AF65-F5344CB8AC3E}">
        <p14:creationId xmlns:p14="http://schemas.microsoft.com/office/powerpoint/2010/main" val="8749467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2EB7D-47D9-FA4F-BFE5-E42AB39B7E08}"/>
              </a:ext>
            </a:extLst>
          </p:cNvPr>
          <p:cNvSpPr>
            <a:spLocks noGrp="1"/>
          </p:cNvSpPr>
          <p:nvPr>
            <p:ph type="title"/>
          </p:nvPr>
        </p:nvSpPr>
        <p:spPr>
          <a:xfrm>
            <a:off x="609600" y="2590800"/>
            <a:ext cx="10972800" cy="1143000"/>
          </a:xfrm>
        </p:spPr>
        <p:txBody>
          <a:bodyPr/>
          <a:lstStyle/>
          <a:p>
            <a:r>
              <a:rPr lang="en-US" dirty="0"/>
              <a:t>End of For Live Session: Unit 1</a:t>
            </a:r>
          </a:p>
        </p:txBody>
      </p:sp>
    </p:spTree>
    <p:extLst>
      <p:ext uri="{BB962C8B-B14F-4D97-AF65-F5344CB8AC3E}">
        <p14:creationId xmlns:p14="http://schemas.microsoft.com/office/powerpoint/2010/main" val="9689674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793305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34"/>
  <p:tag name="MMPROD_UIDATA" val="&lt;database version=&quot;11.0&quot;&gt;&lt;object type=&quot;1&quot; unique_id=&quot;10001&quot;&gt;&lt;object type=&quot;2&quot; unique_id=&quot;47998&quot;&gt;&lt;object type=&quot;3&quot; unique_id=&quot;47999&quot;&gt;&lt;property id=&quot;20148&quot; value=&quot;5&quot;/&gt;&lt;property id=&quot;20300&quot; value=&quot;Slide 1 - &amp;quot;Insert Title Here&amp;quot;&quot;/&gt;&lt;property id=&quot;20307&quot; value=&quot;269&quot;/&gt;&lt;/object&gt;&lt;object type=&quot;3&quot; unique_id=&quot;48000&quot;&gt;&lt;property id=&quot;20148&quot; value=&quot;5&quot;/&gt;&lt;property id=&quot;20300&quot; value=&quot;Slide 2 - &amp;quot;Header&amp;quot;&quot;/&gt;&lt;property id=&quot;20307&quot; value=&quot;266&quot;/&gt;&lt;/object&gt;&lt;object type=&quot;3&quot; unique_id=&quot;48001&quot;&gt;&lt;property id=&quot;20148&quot; value=&quot;5&quot;/&gt;&lt;property id=&quot;20300&quot; value=&quot;Slide 7&quot;/&gt;&lt;property id=&quot;20307&quot; value=&quot;267&quot;/&gt;&lt;/object&gt;&lt;object type=&quot;3&quot; unique_id=&quot;48032&quot;&gt;&lt;property id=&quot;20148&quot; value=&quot;5&quot;/&gt;&lt;property id=&quot;20300&quot; value=&quot;Slide 3&quot;/&gt;&lt;property id=&quot;20307&quot; value=&quot;270&quot;/&gt;&lt;/object&gt;&lt;object type=&quot;3&quot; unique_id=&quot;48033&quot;&gt;&lt;property id=&quot;20148&quot; value=&quot;5&quot;/&gt;&lt;property id=&quot;20300&quot; value=&quot;Slide 4&quot;/&gt;&lt;property id=&quot;20307&quot; value=&quot;271&quot;/&gt;&lt;/object&gt;&lt;object type=&quot;3&quot; unique_id=&quot;48034&quot;&gt;&lt;property id=&quot;20148&quot; value=&quot;5&quot;/&gt;&lt;property id=&quot;20300&quot; value=&quot;Slide 5&quot;/&gt;&lt;property id=&quot;20307&quot; value=&quot;272&quot;/&gt;&lt;/object&gt;&lt;object type=&quot;3&quot; unique_id=&quot;48035&quot;&gt;&lt;property id=&quot;20148&quot; value=&quot;5&quot;/&gt;&lt;property id=&quot;20300&quot; value=&quot;Slide 6&quot;/&gt;&lt;property id=&quot;20307&quot; value=&quot;273&quot;/&gt;&lt;/object&gt;&lt;/object&gt;&lt;object type=&quot;8&quot; unique_id=&quot;48006&quot;&gt;&lt;/object&gt;&lt;/object&gt;&lt;/database&gt;"/>
  <p:tag name="SECTOMILLISECCONVERTED" val="1"/>
</p:tagLst>
</file>

<file path=ppt/theme/theme1.xml><?xml version="1.0" encoding="utf-8"?>
<a:theme xmlns:a="http://schemas.openxmlformats.org/drawingml/2006/main" name="1_Body Slides">
  <a:themeElements>
    <a:clrScheme name="Southern Methodist University palette">
      <a:dk1>
        <a:srgbClr val="000000"/>
      </a:dk1>
      <a:lt1>
        <a:srgbClr val="FFFFFF"/>
      </a:lt1>
      <a:dk2>
        <a:srgbClr val="303651"/>
      </a:dk2>
      <a:lt2>
        <a:srgbClr val="8EB8E5"/>
      </a:lt2>
      <a:accent1>
        <a:srgbClr val="344CA1"/>
      </a:accent1>
      <a:accent2>
        <a:srgbClr val="DDCBA3"/>
      </a:accent2>
      <a:accent3>
        <a:srgbClr val="CC0034"/>
      </a:accent3>
      <a:accent4>
        <a:srgbClr val="928981"/>
      </a:accent4>
      <a:accent5>
        <a:srgbClr val="F9CA12"/>
      </a:accent5>
      <a:accent6>
        <a:srgbClr val="404041"/>
      </a:accent6>
      <a:hlink>
        <a:srgbClr val="0562C1"/>
      </a:hlink>
      <a:folHlink>
        <a:srgbClr val="0563C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8654</TotalTime>
  <Words>1090</Words>
  <Application>Microsoft Macintosh PowerPoint</Application>
  <PresentationFormat>Widescreen</PresentationFormat>
  <Paragraphs>45</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Cambria Math</vt:lpstr>
      <vt:lpstr>Wingdings</vt:lpstr>
      <vt:lpstr>1_Body Slides</vt:lpstr>
      <vt:lpstr>For Live Session Assignment (FLS) </vt:lpstr>
      <vt:lpstr>Philosophy</vt:lpstr>
      <vt:lpstr> Question 1 is the  Quick Quiz Questions! (&lt;= 1 hour)</vt:lpstr>
      <vt:lpstr>Quick Quiz Question 1 (QQ1)</vt:lpstr>
      <vt:lpstr>Quick Quiz Question 2 (QQ2)</vt:lpstr>
      <vt:lpstr>Quick Quiz Question 3 (QQ3)</vt:lpstr>
      <vt:lpstr>Question 2 (≤.5 hours)</vt:lpstr>
      <vt:lpstr>Questions 3 (&lt;.5 hours)</vt:lpstr>
      <vt:lpstr>Question 4 (≤1 hour)</vt:lpstr>
      <vt:lpstr>Question / Activity 5 (2-3 hours)</vt:lpstr>
      <vt:lpstr>Question 6: Takeaways! (~ 1 .5 Hours)</vt:lpstr>
      <vt:lpstr>Question 7: Questions!</vt:lpstr>
      <vt:lpstr>End of For Live Session: Unit 1</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Southern Methodist University</dc:title>
  <dc:subject/>
  <dc:creator>Administrator</dc:creator>
  <cp:keywords/>
  <dc:description/>
  <cp:lastModifiedBy>Sadler, Bivin Philip</cp:lastModifiedBy>
  <cp:revision>232</cp:revision>
  <cp:lastPrinted>2020-09-21T07:53:02Z</cp:lastPrinted>
  <dcterms:created xsi:type="dcterms:W3CDTF">2016-03-21T14:12:59Z</dcterms:created>
  <dcterms:modified xsi:type="dcterms:W3CDTF">2025-04-23T21:07:22Z</dcterms:modified>
  <cp:category/>
</cp:coreProperties>
</file>