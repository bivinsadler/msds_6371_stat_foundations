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Lst>
  <p:notesMasterIdLst>
    <p:notesMasterId r:id="rId30"/>
  </p:notesMasterIdLst>
  <p:sldIdLst>
    <p:sldId id="270" r:id="rId2"/>
    <p:sldId id="333" r:id="rId3"/>
    <p:sldId id="304" r:id="rId4"/>
    <p:sldId id="283" r:id="rId5"/>
    <p:sldId id="341" r:id="rId6"/>
    <p:sldId id="342" r:id="rId7"/>
    <p:sldId id="337" r:id="rId8"/>
    <p:sldId id="338" r:id="rId9"/>
    <p:sldId id="361" r:id="rId10"/>
    <p:sldId id="362" r:id="rId11"/>
    <p:sldId id="364" r:id="rId12"/>
    <p:sldId id="366" r:id="rId13"/>
    <p:sldId id="360" r:id="rId14"/>
    <p:sldId id="358" r:id="rId15"/>
    <p:sldId id="260" r:id="rId16"/>
    <p:sldId id="359" r:id="rId17"/>
    <p:sldId id="355" r:id="rId18"/>
    <p:sldId id="316" r:id="rId19"/>
    <p:sldId id="325" r:id="rId20"/>
    <p:sldId id="356" r:id="rId21"/>
    <p:sldId id="371" r:id="rId22"/>
    <p:sldId id="257" r:id="rId23"/>
    <p:sldId id="363" r:id="rId24"/>
    <p:sldId id="372" r:id="rId25"/>
    <p:sldId id="334" r:id="rId26"/>
    <p:sldId id="336" r:id="rId27"/>
    <p:sldId id="335" r:id="rId28"/>
    <p:sldId id="272" r:id="rId29"/>
  </p:sldIdLst>
  <p:sldSz cx="12192000" cy="6858000"/>
  <p:notesSz cx="6858000" cy="9144000"/>
  <p:custDataLst>
    <p:tags r:id="rId3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M User" initials="LM" lastIdx="1" clrIdx="0">
    <p:extLst>
      <p:ext uri="{19B8F6BF-5375-455C-9EA6-DF929625EA0E}">
        <p15:presenceInfo xmlns:p15="http://schemas.microsoft.com/office/powerpoint/2012/main" userId="LM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4CA1"/>
    <a:srgbClr val="6C6C6C"/>
    <a:srgbClr val="013334"/>
    <a:srgbClr val="10069F"/>
    <a:srgbClr val="4E2A84"/>
    <a:srgbClr val="582E8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787" autoAdjust="0"/>
    <p:restoredTop sz="88494" autoAdjust="0"/>
  </p:normalViewPr>
  <p:slideViewPr>
    <p:cSldViewPr>
      <p:cViewPr varScale="1">
        <p:scale>
          <a:sx n="110" d="100"/>
          <a:sy n="110" d="100"/>
        </p:scale>
        <p:origin x="424" y="16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340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8570D6A-FB49-A14C-9B03-21B3417100CD}" type="datetimeFigureOut">
              <a:rPr lang="en-US" smtClean="0"/>
              <a:t>8/18/26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4CB6C83-B894-2740-9986-97D8BB6F6D98}" type="slidenum">
              <a:rPr lang="en-US" smtClean="0"/>
              <a:t>‹#›</a:t>
            </a:fld>
            <a:endParaRPr lang="en-US" dirty="0"/>
          </a:p>
        </p:txBody>
      </p:sp>
    </p:spTree>
    <p:extLst>
      <p:ext uri="{BB962C8B-B14F-4D97-AF65-F5344CB8AC3E}">
        <p14:creationId xmlns:p14="http://schemas.microsoft.com/office/powerpoint/2010/main" val="1801669850"/>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1828800"/>
            <a:ext cx="10363200" cy="900546"/>
          </a:xfrm>
        </p:spPr>
        <p:txBody>
          <a:bodyPr anchor="b" anchorCtr="0"/>
          <a:lstStyle>
            <a:lvl1pPr algn="l">
              <a:defRPr/>
            </a:lvl1pPr>
          </a:lstStyle>
          <a:p>
            <a:r>
              <a:rPr lang="en-US" dirty="0"/>
              <a:t>Click To Edit Title</a:t>
            </a:r>
          </a:p>
        </p:txBody>
      </p:sp>
      <p:cxnSp>
        <p:nvCxnSpPr>
          <p:cNvPr id="8" name="Straight Connector 7"/>
          <p:cNvCxnSpPr/>
          <p:nvPr userDrawn="1"/>
        </p:nvCxnSpPr>
        <p:spPr>
          <a:xfrm>
            <a:off x="914400" y="2819400"/>
            <a:ext cx="103632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ubtitle 2"/>
          <p:cNvSpPr>
            <a:spLocks noGrp="1"/>
          </p:cNvSpPr>
          <p:nvPr>
            <p:ph type="subTitle" idx="1" hasCustomPrompt="1"/>
          </p:nvPr>
        </p:nvSpPr>
        <p:spPr>
          <a:xfrm>
            <a:off x="914400" y="2895600"/>
            <a:ext cx="10363200" cy="1752600"/>
          </a:xfr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Subtitle</a:t>
            </a:r>
          </a:p>
        </p:txBody>
      </p:sp>
      <p:pic>
        <p:nvPicPr>
          <p:cNvPr id="11" name="Picture 10" descr="C:\Users\njones\Dropbox (2U)\Work\Designing Slides\SMU\Design Brief\logo\logo_datasci_SMU.png">
            <a:extLst>
              <a:ext uri="{FF2B5EF4-FFF2-40B4-BE49-F238E27FC236}">
                <a16:creationId xmlns:a16="http://schemas.microsoft.com/office/drawing/2014/main" id="{6C9BC461-74A3-3B43-A311-BC67E0EEF880}"/>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06402" y="6386563"/>
            <a:ext cx="2348007" cy="2072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51382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cxnSp>
        <p:nvCxnSpPr>
          <p:cNvPr id="8" name="Straight Connector 7"/>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8239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4406903"/>
            <a:ext cx="10363200" cy="1362075"/>
          </a:xfrm>
        </p:spPr>
        <p:txBody>
          <a:bodyPr anchor="t"/>
          <a:lstStyle>
            <a:lvl1pPr algn="l">
              <a:defRPr sz="4000" b="0" cap="none"/>
            </a:lvl1pPr>
          </a:lstStyle>
          <a:p>
            <a:r>
              <a:rPr lang="en-US" dirty="0"/>
              <a:t>Click To Edit Master Title Style</a:t>
            </a:r>
          </a:p>
        </p:txBody>
      </p:sp>
      <p:sp>
        <p:nvSpPr>
          <p:cNvPr id="3" name="Text Placeholder 2"/>
          <p:cNvSpPr>
            <a:spLocks noGrp="1"/>
          </p:cNvSpPr>
          <p:nvPr>
            <p:ph type="body" idx="1" hasCustomPrompt="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cxnSp>
        <p:nvCxnSpPr>
          <p:cNvPr id="7" name="Straight Connector 6"/>
          <p:cNvCxnSpPr/>
          <p:nvPr userDrawn="1"/>
        </p:nvCxnSpPr>
        <p:spPr>
          <a:xfrm>
            <a:off x="963084" y="4406900"/>
            <a:ext cx="103632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4441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3200"/>
            </a:lvl1pPr>
            <a:lvl2pPr>
              <a:defRPr sz="2800"/>
            </a:lvl2pPr>
            <a:lvl3pPr>
              <a:defRPr sz="2400"/>
            </a:lvl3pPr>
            <a:lvl4pPr>
              <a:defRPr sz="20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600203"/>
            <a:ext cx="5384800" cy="4525963"/>
          </a:xfrm>
        </p:spPr>
        <p:txBody>
          <a:bodyPr/>
          <a:lstStyle>
            <a:lvl1pPr>
              <a:defRPr sz="3200"/>
            </a:lvl1pPr>
            <a:lvl2pPr>
              <a:defRPr sz="2800"/>
            </a:lvl2pPr>
            <a:lvl3pPr>
              <a:defRPr sz="2400"/>
            </a:lvl3pPr>
            <a:lvl4pPr>
              <a:defRPr sz="20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9440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609600" y="1417638"/>
            <a:ext cx="5386917" cy="90646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09600" y="2590800"/>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93369" y="1417638"/>
            <a:ext cx="5389033" cy="90646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22644" y="2590800"/>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9070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Tree>
    <p:extLst>
      <p:ext uri="{BB962C8B-B14F-4D97-AF65-F5344CB8AC3E}">
        <p14:creationId xmlns:p14="http://schemas.microsoft.com/office/powerpoint/2010/main" val="15618349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with Horizontal Ru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cxnSp>
        <p:nvCxnSpPr>
          <p:cNvPr id="3" name="Straight Connector 2"/>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7566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7417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End Slide">
    <p:spTree>
      <p:nvGrpSpPr>
        <p:cNvPr id="1" name=""/>
        <p:cNvGrpSpPr/>
        <p:nvPr/>
      </p:nvGrpSpPr>
      <p:grpSpPr>
        <a:xfrm>
          <a:off x="0" y="0"/>
          <a:ext cx="0" cy="0"/>
          <a:chOff x="0" y="0"/>
          <a:chExt cx="0" cy="0"/>
        </a:xfrm>
      </p:grpSpPr>
      <p:pic>
        <p:nvPicPr>
          <p:cNvPr id="4" name="Picture 3" descr="C:\Users\njones\Dropbox (2U)\Work\Designing Slides\SMU\Design Brief\logo\logo_datasci_SMU.png">
            <a:extLst>
              <a:ext uri="{FF2B5EF4-FFF2-40B4-BE49-F238E27FC236}">
                <a16:creationId xmlns:a16="http://schemas.microsoft.com/office/drawing/2014/main" id="{A756B8E1-2372-7141-AD48-1954EB22C32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209800" y="2778677"/>
            <a:ext cx="7772399" cy="6860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573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ltGray">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28600"/>
            <a:ext cx="10972800" cy="114300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Rectangle 11"/>
          <p:cNvSpPr/>
          <p:nvPr userDrawn="1"/>
        </p:nvSpPr>
        <p:spPr>
          <a:xfrm>
            <a:off x="0" y="6779932"/>
            <a:ext cx="12192000" cy="91440"/>
          </a:xfrm>
          <a:prstGeom prst="rect">
            <a:avLst/>
          </a:prstGeom>
          <a:solidFill>
            <a:srgbClr val="35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4" name="Rectangle 13"/>
          <p:cNvSpPr/>
          <p:nvPr userDrawn="1"/>
        </p:nvSpPr>
        <p:spPr>
          <a:xfrm>
            <a:off x="0" y="0"/>
            <a:ext cx="12192000" cy="304800"/>
          </a:xfrm>
          <a:prstGeom prst="rect">
            <a:avLst/>
          </a:prstGeom>
          <a:solidFill>
            <a:srgbClr val="35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Tree>
    <p:extLst>
      <p:ext uri="{BB962C8B-B14F-4D97-AF65-F5344CB8AC3E}">
        <p14:creationId xmlns:p14="http://schemas.microsoft.com/office/powerpoint/2010/main" val="122329842"/>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6" r:id="rId9"/>
  </p:sldLayoutIdLst>
  <p:txStyles>
    <p:titleStyle>
      <a:lvl1pPr algn="ctr" defTabSz="914400" rtl="0" eaLnBrk="1" latinLnBrk="0" hangingPunct="1">
        <a:spcBef>
          <a:spcPct val="0"/>
        </a:spcBef>
        <a:buNone/>
        <a:defRPr sz="4400" b="0" i="0" u="none" kern="1200">
          <a:solidFill>
            <a:schemeClr val="tx1"/>
          </a:solidFill>
          <a:latin typeface="+mj-lt"/>
          <a:ea typeface="+mj-ea"/>
          <a:cs typeface="+mj-cs"/>
        </a:defRPr>
      </a:lvl1pPr>
    </p:titleStyle>
    <p:bodyStyle>
      <a:lvl1pPr marL="342900" indent="-342900" algn="l" defTabSz="914400" rtl="0" eaLnBrk="1" latinLnBrk="0" hangingPunct="1">
        <a:spcBef>
          <a:spcPts val="600"/>
        </a:spcBef>
        <a:buFont typeface="Arial" charset="0"/>
        <a:buChar char="•"/>
        <a:defRPr sz="3200" kern="1200">
          <a:solidFill>
            <a:schemeClr val="tx1"/>
          </a:solidFill>
          <a:latin typeface="+mn-lt"/>
          <a:ea typeface="+mn-ea"/>
          <a:cs typeface="+mn-cs"/>
        </a:defRPr>
      </a:lvl1pPr>
      <a:lvl2pPr marL="742950" indent="-285750" algn="l" defTabSz="914400" rtl="0" eaLnBrk="1" latinLnBrk="0" hangingPunct="1">
        <a:spcBef>
          <a:spcPts val="600"/>
        </a:spcBef>
        <a:buFont typeface="Arial" charset="0"/>
        <a:buChar char="•"/>
        <a:defRPr sz="2800" b="0" i="0" u="none" kern="1200">
          <a:solidFill>
            <a:schemeClr val="tx1"/>
          </a:solidFill>
          <a:latin typeface="+mn-lt"/>
          <a:ea typeface="+mn-ea"/>
          <a:cs typeface="+mn-cs"/>
        </a:defRPr>
      </a:lvl2pPr>
      <a:lvl3pPr marL="1143000" indent="-228600" algn="l" defTabSz="914400" rtl="0" eaLnBrk="1" latinLnBrk="0" hangingPunct="1">
        <a:spcBef>
          <a:spcPts val="600"/>
        </a:spcBef>
        <a:buFont typeface="Arial" charset="0"/>
        <a:buChar char="•"/>
        <a:defRPr sz="2400" kern="1200">
          <a:solidFill>
            <a:schemeClr val="tx1"/>
          </a:solidFill>
          <a:latin typeface="+mn-lt"/>
          <a:ea typeface="+mn-ea"/>
          <a:cs typeface="+mn-cs"/>
        </a:defRPr>
      </a:lvl3pPr>
      <a:lvl4pPr marL="1600200" indent="-228600" algn="l" defTabSz="914400" rtl="0" eaLnBrk="1" latinLnBrk="0" hangingPunct="1">
        <a:spcBef>
          <a:spcPts val="600"/>
        </a:spcBef>
        <a:buFont typeface="Arial"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historymatters.gmu.edu/d/5168/" TargetMode="External"/><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13.tif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one.npr.org/?sharedMediaId=nx-s1-5928263:nx-s1-9889578"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C4CB0-3087-9D43-85D3-6DA36180D5A4}"/>
              </a:ext>
            </a:extLst>
          </p:cNvPr>
          <p:cNvSpPr>
            <a:spLocks noGrp="1"/>
          </p:cNvSpPr>
          <p:nvPr>
            <p:ph type="ctrTitle"/>
          </p:nvPr>
        </p:nvSpPr>
        <p:spPr/>
        <p:txBody>
          <a:bodyPr/>
          <a:lstStyle/>
          <a:p>
            <a:r>
              <a:rPr lang="en-US" dirty="0"/>
              <a:t>For Live Session Assignment</a:t>
            </a:r>
            <a:r>
              <a:rPr lang="en-US" dirty="0">
                <a:sym typeface="Wingdings" pitchFamily="2" charset="2"/>
              </a:rPr>
              <a:t> (FLS)</a:t>
            </a:r>
            <a:r>
              <a:rPr lang="en-US" dirty="0"/>
              <a:t> </a:t>
            </a:r>
          </a:p>
        </p:txBody>
      </p:sp>
      <p:sp>
        <p:nvSpPr>
          <p:cNvPr id="5" name="Subtitle 4"/>
          <p:cNvSpPr>
            <a:spLocks noGrp="1"/>
          </p:cNvSpPr>
          <p:nvPr>
            <p:ph type="subTitle" idx="1"/>
          </p:nvPr>
        </p:nvSpPr>
        <p:spPr/>
        <p:txBody>
          <a:bodyPr/>
          <a:lstStyle/>
          <a:p>
            <a:r>
              <a:rPr lang="en-US" dirty="0"/>
              <a:t>Unit 1</a:t>
            </a:r>
          </a:p>
        </p:txBody>
      </p:sp>
    </p:spTree>
    <p:extLst>
      <p:ext uri="{BB962C8B-B14F-4D97-AF65-F5344CB8AC3E}">
        <p14:creationId xmlns:p14="http://schemas.microsoft.com/office/powerpoint/2010/main" val="2742512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5CDBF-CA05-B94C-A90A-7CD156AA9F7C}"/>
              </a:ext>
            </a:extLst>
          </p:cNvPr>
          <p:cNvSpPr>
            <a:spLocks noGrp="1"/>
          </p:cNvSpPr>
          <p:nvPr>
            <p:ph type="title"/>
          </p:nvPr>
        </p:nvSpPr>
        <p:spPr/>
        <p:txBody>
          <a:bodyPr/>
          <a:lstStyle/>
          <a:p>
            <a:r>
              <a:rPr lang="en-US" dirty="0"/>
              <a:t>Philosophy</a:t>
            </a:r>
          </a:p>
        </p:txBody>
      </p:sp>
      <p:sp>
        <p:nvSpPr>
          <p:cNvPr id="3" name="Content Placeholder 2">
            <a:extLst>
              <a:ext uri="{FF2B5EF4-FFF2-40B4-BE49-F238E27FC236}">
                <a16:creationId xmlns:a16="http://schemas.microsoft.com/office/drawing/2014/main" id="{8BAF0FC9-3134-0F4C-B707-A2C723352008}"/>
              </a:ext>
            </a:extLst>
          </p:cNvPr>
          <p:cNvSpPr>
            <a:spLocks noGrp="1"/>
          </p:cNvSpPr>
          <p:nvPr>
            <p:ph idx="1"/>
          </p:nvPr>
        </p:nvSpPr>
        <p:spPr>
          <a:xfrm>
            <a:off x="457200" y="1752600"/>
            <a:ext cx="11353800" cy="5194570"/>
          </a:xfrm>
        </p:spPr>
        <p:txBody>
          <a:bodyPr>
            <a:normAutofit fontScale="70000" lnSpcReduction="20000"/>
          </a:bodyPr>
          <a:lstStyle/>
          <a:p>
            <a:r>
              <a:rPr lang="en-US" dirty="0"/>
              <a:t>On the following slide(s) you will see activities and the estimated / expected time that the student should spend on that activity. </a:t>
            </a:r>
          </a:p>
          <a:p>
            <a:r>
              <a:rPr lang="en-US" dirty="0"/>
              <a:t>It is important to note that the goal of the activities is to become familiar with the methods, ideas and implementation involved in that activity so that we can efficiently iron out all the details in live session.  </a:t>
            </a:r>
          </a:p>
          <a:p>
            <a:r>
              <a:rPr lang="en-US" dirty="0"/>
              <a:t>Analogy: You are building the pieces of puzzle in the For Live Session Activity and we are putting them together to see the big picture in live session. </a:t>
            </a:r>
          </a:p>
          <a:p>
            <a:r>
              <a:rPr lang="en-US" dirty="0"/>
              <a:t>It is </a:t>
            </a:r>
            <a:r>
              <a:rPr lang="en-US" b="1" i="1" u="sng" dirty="0"/>
              <a:t>not</a:t>
            </a:r>
            <a:r>
              <a:rPr lang="en-US" dirty="0"/>
              <a:t> expected that the student have all the correct answers.  The expectation is that each student spend the allotted time (indicated next to the activity) on each activity so that we can discuss the details in live session.  </a:t>
            </a:r>
          </a:p>
          <a:p>
            <a:r>
              <a:rPr lang="en-US" dirty="0"/>
              <a:t>If you max out the indicated time without finishing the activity and you don’t have more time to finish, simply write up what you have learned by that time and record any questions you might have and we will address those in live session!  </a:t>
            </a:r>
          </a:p>
          <a:p>
            <a:r>
              <a:rPr lang="en-US" dirty="0"/>
              <a:t>We want to develop the questions before live session so that we can use the live session time to effectively answer them!  </a:t>
            </a:r>
          </a:p>
          <a:p>
            <a:pPr marL="971550" lvl="1" indent="-514350">
              <a:buAutoNum type="arabicPeriod"/>
            </a:pPr>
            <a:endParaRPr lang="en-US" dirty="0"/>
          </a:p>
        </p:txBody>
      </p:sp>
    </p:spTree>
    <p:extLst>
      <p:ext uri="{BB962C8B-B14F-4D97-AF65-F5344CB8AC3E}">
        <p14:creationId xmlns:p14="http://schemas.microsoft.com/office/powerpoint/2010/main" val="541346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Symbols!</a:t>
            </a:r>
          </a:p>
        </p:txBody>
      </p:sp>
      <p:sp>
        <p:nvSpPr>
          <p:cNvPr id="5" name="TextBox 4"/>
          <p:cNvSpPr txBox="1"/>
          <p:nvPr/>
        </p:nvSpPr>
        <p:spPr>
          <a:xfrm>
            <a:off x="2525924" y="2922417"/>
            <a:ext cx="2001774" cy="553998"/>
          </a:xfrm>
          <a:prstGeom prst="rect">
            <a:avLst/>
          </a:prstGeom>
          <a:noFill/>
        </p:spPr>
        <p:txBody>
          <a:bodyPr wrap="square" rtlCol="0">
            <a:spAutoFit/>
          </a:bodyPr>
          <a:lstStyle/>
          <a:p>
            <a:r>
              <a:rPr lang="en-US" sz="3000" dirty="0"/>
              <a:t>Sample</a:t>
            </a:r>
          </a:p>
        </p:txBody>
      </p:sp>
      <p:sp>
        <p:nvSpPr>
          <p:cNvPr id="6" name="TextBox 5"/>
          <p:cNvSpPr txBox="1"/>
          <p:nvPr/>
        </p:nvSpPr>
        <p:spPr>
          <a:xfrm>
            <a:off x="2233725" y="3515192"/>
            <a:ext cx="2473399" cy="553998"/>
          </a:xfrm>
          <a:prstGeom prst="rect">
            <a:avLst/>
          </a:prstGeom>
          <a:noFill/>
        </p:spPr>
        <p:txBody>
          <a:bodyPr wrap="square" rtlCol="0">
            <a:spAutoFit/>
          </a:bodyPr>
          <a:lstStyle/>
          <a:p>
            <a:r>
              <a:rPr lang="en-US" sz="3000" dirty="0"/>
              <a:t>Population</a:t>
            </a:r>
          </a:p>
        </p:txBody>
      </p:sp>
      <p:sp>
        <p:nvSpPr>
          <p:cNvPr id="7" name="TextBox 6"/>
          <p:cNvSpPr txBox="1"/>
          <p:nvPr/>
        </p:nvSpPr>
        <p:spPr>
          <a:xfrm>
            <a:off x="4017635" y="2419222"/>
            <a:ext cx="1186766" cy="553998"/>
          </a:xfrm>
          <a:prstGeom prst="rect">
            <a:avLst/>
          </a:prstGeom>
          <a:noFill/>
        </p:spPr>
        <p:txBody>
          <a:bodyPr wrap="square" rtlCol="0">
            <a:spAutoFit/>
          </a:bodyPr>
          <a:lstStyle/>
          <a:p>
            <a:r>
              <a:rPr lang="en-US" sz="3000" dirty="0"/>
              <a:t>Mean</a:t>
            </a:r>
          </a:p>
        </p:txBody>
      </p:sp>
      <p:sp>
        <p:nvSpPr>
          <p:cNvPr id="8" name="TextBox 7"/>
          <p:cNvSpPr txBox="1"/>
          <p:nvPr/>
        </p:nvSpPr>
        <p:spPr>
          <a:xfrm>
            <a:off x="5297031" y="1965164"/>
            <a:ext cx="1796496" cy="1015663"/>
          </a:xfrm>
          <a:prstGeom prst="rect">
            <a:avLst/>
          </a:prstGeom>
          <a:noFill/>
        </p:spPr>
        <p:txBody>
          <a:bodyPr wrap="square" rtlCol="0">
            <a:spAutoFit/>
          </a:bodyPr>
          <a:lstStyle/>
          <a:p>
            <a:r>
              <a:rPr lang="en-US" sz="3000" dirty="0"/>
              <a:t>Standard Deviation</a:t>
            </a:r>
          </a:p>
        </p:txBody>
      </p:sp>
      <p:sp>
        <p:nvSpPr>
          <p:cNvPr id="9" name="TextBox 8"/>
          <p:cNvSpPr txBox="1"/>
          <p:nvPr/>
        </p:nvSpPr>
        <p:spPr>
          <a:xfrm>
            <a:off x="7172178" y="2419223"/>
            <a:ext cx="1796495" cy="553998"/>
          </a:xfrm>
          <a:prstGeom prst="rect">
            <a:avLst/>
          </a:prstGeom>
          <a:noFill/>
        </p:spPr>
        <p:txBody>
          <a:bodyPr wrap="square" rtlCol="0">
            <a:spAutoFit/>
          </a:bodyPr>
          <a:lstStyle/>
          <a:p>
            <a:r>
              <a:rPr lang="en-US" sz="3000" dirty="0"/>
              <a:t>Variance</a:t>
            </a:r>
          </a:p>
        </p:txBody>
      </p:sp>
      <mc:AlternateContent xmlns:mc="http://schemas.openxmlformats.org/markup-compatibility/2006" xmlns:a14="http://schemas.microsoft.com/office/drawing/2010/main">
        <mc:Choice Requires="a14">
          <p:sp>
            <p:nvSpPr>
              <p:cNvPr id="11" name="TextBox 10"/>
              <p:cNvSpPr txBox="1"/>
              <p:nvPr/>
            </p:nvSpPr>
            <p:spPr>
              <a:xfrm>
                <a:off x="4017635" y="2879886"/>
                <a:ext cx="1241434" cy="6001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sz="3300" i="1">
                              <a:latin typeface="Cambria Math" panose="02040503050406030204" pitchFamily="18" charset="0"/>
                            </a:rPr>
                          </m:ctrlPr>
                        </m:accPr>
                        <m:e>
                          <m:r>
                            <a:rPr lang="en-US" sz="3300" i="1">
                              <a:latin typeface="Cambria Math"/>
                            </a:rPr>
                            <m:t>𝑥</m:t>
                          </m:r>
                        </m:e>
                      </m:acc>
                    </m:oMath>
                  </m:oMathPara>
                </a14:m>
                <a:endParaRPr lang="en-US" sz="3000" dirty="0"/>
              </a:p>
            </p:txBody>
          </p:sp>
        </mc:Choice>
        <mc:Fallback xmlns="">
          <p:sp>
            <p:nvSpPr>
              <p:cNvPr id="11" name="TextBox 10"/>
              <p:cNvSpPr txBox="1">
                <a:spLocks noRot="1" noChangeAspect="1" noMove="1" noResize="1" noEditPoints="1" noAdjustHandles="1" noChangeArrowheads="1" noChangeShapeType="1" noTextEdit="1"/>
              </p:cNvSpPr>
              <p:nvPr/>
            </p:nvSpPr>
            <p:spPr>
              <a:xfrm>
                <a:off x="4017635" y="2879886"/>
                <a:ext cx="1241434" cy="600164"/>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4017636" y="3455587"/>
                <a:ext cx="1256603" cy="6001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300" i="1">
                          <a:latin typeface="Cambria Math"/>
                          <a:ea typeface="Cambria Math"/>
                        </a:rPr>
                        <m:t>𝜇</m:t>
                      </m:r>
                    </m:oMath>
                  </m:oMathPara>
                </a14:m>
                <a:endParaRPr lang="en-US" sz="3000" dirty="0"/>
              </a:p>
            </p:txBody>
          </p:sp>
        </mc:Choice>
        <mc:Fallback xmlns="">
          <p:sp>
            <p:nvSpPr>
              <p:cNvPr id="12" name="TextBox 11"/>
              <p:cNvSpPr txBox="1">
                <a:spLocks noRot="1" noChangeAspect="1" noMove="1" noResize="1" noEditPoints="1" noAdjustHandles="1" noChangeArrowheads="1" noChangeShapeType="1" noTextEdit="1"/>
              </p:cNvSpPr>
              <p:nvPr/>
            </p:nvSpPr>
            <p:spPr>
              <a:xfrm>
                <a:off x="4017636" y="3455587"/>
                <a:ext cx="1256603" cy="600164"/>
              </a:xfrm>
              <a:prstGeom prst="rect">
                <a:avLst/>
              </a:prstGeom>
              <a:blipFill>
                <a:blip r:embed="rId3"/>
                <a:stretch>
                  <a:fillRect b="-104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5297031" y="3495229"/>
                <a:ext cx="1295032" cy="6001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300" i="1">
                          <a:latin typeface="Cambria Math"/>
                          <a:ea typeface="Cambria Math"/>
                        </a:rPr>
                        <m:t>𝜎</m:t>
                      </m:r>
                    </m:oMath>
                  </m:oMathPara>
                </a14:m>
                <a:endParaRPr lang="en-US" sz="3000" dirty="0"/>
              </a:p>
            </p:txBody>
          </p:sp>
        </mc:Choice>
        <mc:Fallback xmlns="">
          <p:sp>
            <p:nvSpPr>
              <p:cNvPr id="13" name="TextBox 12"/>
              <p:cNvSpPr txBox="1">
                <a:spLocks noRot="1" noChangeAspect="1" noMove="1" noResize="1" noEditPoints="1" noAdjustHandles="1" noChangeArrowheads="1" noChangeShapeType="1" noTextEdit="1"/>
              </p:cNvSpPr>
              <p:nvPr/>
            </p:nvSpPr>
            <p:spPr>
              <a:xfrm>
                <a:off x="5297031" y="3495229"/>
                <a:ext cx="1295032" cy="60016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5297031" y="2900080"/>
                <a:ext cx="1256602" cy="5539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000" i="1">
                          <a:latin typeface="Cambria Math"/>
                        </a:rPr>
                        <m:t>𝑠</m:t>
                      </m:r>
                    </m:oMath>
                  </m:oMathPara>
                </a14:m>
                <a:endParaRPr lang="en-US" sz="3000" dirty="0"/>
              </a:p>
            </p:txBody>
          </p:sp>
        </mc:Choice>
        <mc:Fallback xmlns="">
          <p:sp>
            <p:nvSpPr>
              <p:cNvPr id="14" name="TextBox 13"/>
              <p:cNvSpPr txBox="1">
                <a:spLocks noRot="1" noChangeAspect="1" noMove="1" noResize="1" noEditPoints="1" noAdjustHandles="1" noChangeArrowheads="1" noChangeShapeType="1" noTextEdit="1"/>
              </p:cNvSpPr>
              <p:nvPr/>
            </p:nvSpPr>
            <p:spPr>
              <a:xfrm>
                <a:off x="5297031" y="2900080"/>
                <a:ext cx="1256602" cy="553998"/>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7172180" y="2902969"/>
                <a:ext cx="1575779" cy="5539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3000" i="1">
                              <a:latin typeface="Cambria Math" panose="02040503050406030204" pitchFamily="18" charset="0"/>
                            </a:rPr>
                          </m:ctrlPr>
                        </m:sSupPr>
                        <m:e>
                          <m:r>
                            <a:rPr lang="en-US" sz="3000" i="1">
                              <a:latin typeface="Cambria Math"/>
                            </a:rPr>
                            <m:t>𝑠</m:t>
                          </m:r>
                        </m:e>
                        <m:sup>
                          <m:r>
                            <a:rPr lang="en-US" sz="3000" i="1">
                              <a:latin typeface="Cambria Math"/>
                            </a:rPr>
                            <m:t>2</m:t>
                          </m:r>
                        </m:sup>
                      </m:sSup>
                    </m:oMath>
                  </m:oMathPara>
                </a14:m>
                <a:endParaRPr lang="en-US" sz="3000" dirty="0"/>
              </a:p>
            </p:txBody>
          </p:sp>
        </mc:Choice>
        <mc:Fallback xmlns="">
          <p:sp>
            <p:nvSpPr>
              <p:cNvPr id="15" name="TextBox 14"/>
              <p:cNvSpPr txBox="1">
                <a:spLocks noRot="1" noChangeAspect="1" noMove="1" noResize="1" noEditPoints="1" noAdjustHandles="1" noChangeArrowheads="1" noChangeShapeType="1" noTextEdit="1"/>
              </p:cNvSpPr>
              <p:nvPr/>
            </p:nvSpPr>
            <p:spPr>
              <a:xfrm>
                <a:off x="7172180" y="2902969"/>
                <a:ext cx="1575779" cy="553998"/>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7172180" y="3494482"/>
                <a:ext cx="1608700" cy="6001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3300" i="1">
                              <a:latin typeface="Cambria Math" panose="02040503050406030204" pitchFamily="18" charset="0"/>
                              <a:ea typeface="Cambria Math"/>
                            </a:rPr>
                          </m:ctrlPr>
                        </m:sSupPr>
                        <m:e>
                          <m:r>
                            <a:rPr lang="en-US" sz="3300" i="1">
                              <a:latin typeface="Cambria Math"/>
                              <a:ea typeface="Cambria Math"/>
                            </a:rPr>
                            <m:t>𝜎</m:t>
                          </m:r>
                        </m:e>
                        <m:sup>
                          <m:r>
                            <a:rPr lang="en-US" sz="3300" i="1">
                              <a:latin typeface="Cambria Math"/>
                              <a:ea typeface="Cambria Math"/>
                            </a:rPr>
                            <m:t>2</m:t>
                          </m:r>
                        </m:sup>
                      </m:sSup>
                    </m:oMath>
                  </m:oMathPara>
                </a14:m>
                <a:endParaRPr lang="en-US" sz="3000" dirty="0"/>
              </a:p>
            </p:txBody>
          </p:sp>
        </mc:Choice>
        <mc:Fallback xmlns="">
          <p:sp>
            <p:nvSpPr>
              <p:cNvPr id="16" name="TextBox 15"/>
              <p:cNvSpPr txBox="1">
                <a:spLocks noRot="1" noChangeAspect="1" noMove="1" noResize="1" noEditPoints="1" noAdjustHandles="1" noChangeArrowheads="1" noChangeShapeType="1" noTextEdit="1"/>
              </p:cNvSpPr>
              <p:nvPr/>
            </p:nvSpPr>
            <p:spPr>
              <a:xfrm>
                <a:off x="7172180" y="3494482"/>
                <a:ext cx="1608700" cy="600164"/>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9816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1+#ppt_w/2"/>
                                          </p:val>
                                        </p:tav>
                                        <p:tav tm="100000">
                                          <p:val>
                                            <p:strVal val="#ppt_x"/>
                                          </p:val>
                                        </p:tav>
                                      </p:tavLst>
                                    </p:anim>
                                    <p:anim calcmode="lin" valueType="num">
                                      <p:cBhvr additive="base">
                                        <p:cTn id="18" dur="500" fill="hold"/>
                                        <p:tgtEl>
                                          <p:spTgt spid="7"/>
                                        </p:tgtEl>
                                        <p:attrNameLst>
                                          <p:attrName>ppt_y</p:attrName>
                                        </p:attrNameLst>
                                      </p:cBhvr>
                                      <p:tavLst>
                                        <p:tav tm="0">
                                          <p:val>
                                            <p:strVal val="#ppt_y"/>
                                          </p:val>
                                        </p:tav>
                                        <p:tav tm="100000">
                                          <p:val>
                                            <p:strVal val="#ppt_y"/>
                                          </p:val>
                                        </p:tav>
                                      </p:tavLst>
                                    </p:anim>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1+#ppt_w/2"/>
                                          </p:val>
                                        </p:tav>
                                        <p:tav tm="100000">
                                          <p:val>
                                            <p:strVal val="#ppt_x"/>
                                          </p:val>
                                        </p:tav>
                                      </p:tavLst>
                                    </p:anim>
                                    <p:anim calcmode="lin" valueType="num">
                                      <p:cBhvr additive="base">
                                        <p:cTn id="30" dur="500" fill="hold"/>
                                        <p:tgtEl>
                                          <p:spTgt spid="8"/>
                                        </p:tgtEl>
                                        <p:attrNameLst>
                                          <p:attrName>ppt_y</p:attrName>
                                        </p:attrNameLst>
                                      </p:cBhvr>
                                      <p:tavLst>
                                        <p:tav tm="0">
                                          <p:val>
                                            <p:strVal val="#ppt_y"/>
                                          </p:val>
                                        </p:tav>
                                        <p:tav tm="100000">
                                          <p:val>
                                            <p:strVal val="#ppt_y"/>
                                          </p:val>
                                        </p:tav>
                                      </p:tavLst>
                                    </p:anim>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par>
                                <p:cTn id="45" presetID="2" presetClass="entr" presetSubtype="2" fill="hold" grpId="0" nodeType="withEffect">
                                  <p:stCondLst>
                                    <p:cond delay="0"/>
                                  </p:stCondLst>
                                  <p:childTnLst>
                                    <p:set>
                                      <p:cBhvr>
                                        <p:cTn id="46" dur="1" fill="hold">
                                          <p:stCondLst>
                                            <p:cond delay="0"/>
                                          </p:stCondLst>
                                        </p:cTn>
                                        <p:tgtEl>
                                          <p:spTgt spid="9"/>
                                        </p:tgtEl>
                                        <p:attrNameLst>
                                          <p:attrName>style.visibility</p:attrName>
                                        </p:attrNameLst>
                                      </p:cBhvr>
                                      <p:to>
                                        <p:strVal val="visible"/>
                                      </p:to>
                                    </p:set>
                                    <p:anim calcmode="lin" valueType="num">
                                      <p:cBhvr additive="base">
                                        <p:cTn id="47" dur="500" fill="hold"/>
                                        <p:tgtEl>
                                          <p:spTgt spid="9"/>
                                        </p:tgtEl>
                                        <p:attrNameLst>
                                          <p:attrName>ppt_x</p:attrName>
                                        </p:attrNameLst>
                                      </p:cBhvr>
                                      <p:tavLst>
                                        <p:tav tm="0">
                                          <p:val>
                                            <p:strVal val="1+#ppt_w/2"/>
                                          </p:val>
                                        </p:tav>
                                        <p:tav tm="100000">
                                          <p:val>
                                            <p:strVal val="#ppt_x"/>
                                          </p:val>
                                        </p:tav>
                                      </p:tavLst>
                                    </p:anim>
                                    <p:anim calcmode="lin" valueType="num">
                                      <p:cBhvr additive="base">
                                        <p:cTn id="48"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1" grpId="0"/>
      <p:bldP spid="12" grpId="0"/>
      <p:bldP spid="13" grpId="0"/>
      <p:bldP spid="14" grpId="0"/>
      <p:bldP spid="15"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296512"/>
            <a:ext cx="11658600" cy="4351338"/>
          </a:xfrm>
        </p:spPr>
        <p:txBody>
          <a:bodyPr/>
          <a:lstStyle/>
          <a:p>
            <a:pPr algn="just">
              <a:buFont typeface="Arial" charset="0"/>
              <a:buChar char="•"/>
            </a:pPr>
            <a:endParaRPr lang="en-US" sz="2000" dirty="0"/>
          </a:p>
          <a:p>
            <a:pPr algn="just">
              <a:buFont typeface="Arial" charset="0"/>
              <a:buChar char="•"/>
            </a:pPr>
            <a:r>
              <a:rPr lang="en-US" sz="2000" dirty="0"/>
              <a:t> Causal inferences </a:t>
            </a:r>
            <a:r>
              <a:rPr lang="en-US" sz="2000" b="1" dirty="0">
                <a:solidFill>
                  <a:srgbClr val="0070C0"/>
                </a:solidFill>
              </a:rPr>
              <a:t>can</a:t>
            </a:r>
            <a:r>
              <a:rPr lang="en-US" sz="2000" dirty="0"/>
              <a:t> be drawn from randomized experiments</a:t>
            </a:r>
          </a:p>
          <a:p>
            <a:pPr algn="just">
              <a:buFont typeface="Arial" charset="0"/>
              <a:buChar char="•"/>
            </a:pPr>
            <a:r>
              <a:rPr lang="en-US" sz="2000" dirty="0"/>
              <a:t> Causal inferences </a:t>
            </a:r>
            <a:r>
              <a:rPr lang="en-US" sz="2000" b="1" dirty="0">
                <a:solidFill>
                  <a:srgbClr val="FF0000"/>
                </a:solidFill>
              </a:rPr>
              <a:t>cannot</a:t>
            </a:r>
            <a:r>
              <a:rPr lang="en-US" sz="2000" dirty="0"/>
              <a:t> be drawn from observational studies due to </a:t>
            </a:r>
            <a:r>
              <a:rPr lang="en-US" sz="2000" b="1" u="sng" cap="small" dirty="0"/>
              <a:t>Confounding</a:t>
            </a:r>
            <a:endParaRPr lang="en-US" sz="2000" b="1" cap="small" dirty="0"/>
          </a:p>
          <a:p>
            <a:pPr marL="0" indent="0" algn="just">
              <a:buNone/>
            </a:pPr>
            <a:r>
              <a:rPr lang="en-US" sz="2000" dirty="0"/>
              <a:t>What are some possible confounding variables in the gender/salary study?</a:t>
            </a:r>
          </a:p>
        </p:txBody>
      </p:sp>
      <p:sp>
        <p:nvSpPr>
          <p:cNvPr id="5" name="TextBox 4"/>
          <p:cNvSpPr txBox="1"/>
          <p:nvPr/>
        </p:nvSpPr>
        <p:spPr>
          <a:xfrm>
            <a:off x="381000" y="3148709"/>
            <a:ext cx="3527505" cy="2031325"/>
          </a:xfrm>
          <a:prstGeom prst="rect">
            <a:avLst/>
          </a:prstGeom>
          <a:noFill/>
        </p:spPr>
        <p:txBody>
          <a:bodyPr wrap="square" rtlCol="0">
            <a:spAutoFit/>
          </a:bodyPr>
          <a:lstStyle/>
          <a:p>
            <a:pPr algn="just"/>
            <a:r>
              <a:rPr lang="en-US" dirty="0"/>
              <a:t>In the starting salaries study, maybe males in this study had</a:t>
            </a:r>
          </a:p>
          <a:p>
            <a:pPr marL="285750" indent="-285750" algn="just">
              <a:buFont typeface="Arial" charset="0"/>
              <a:buChar char="•"/>
            </a:pPr>
            <a:r>
              <a:rPr lang="en-US" dirty="0"/>
              <a:t>more education</a:t>
            </a:r>
          </a:p>
          <a:p>
            <a:pPr marL="285750" indent="-285750" algn="just">
              <a:buFont typeface="Arial" charset="0"/>
              <a:buChar char="•"/>
            </a:pPr>
            <a:r>
              <a:rPr lang="en-US" dirty="0"/>
              <a:t>more seniority</a:t>
            </a:r>
          </a:p>
          <a:p>
            <a:pPr marL="285750" indent="-285750" algn="just">
              <a:buFont typeface="Arial" charset="0"/>
              <a:buChar char="•"/>
            </a:pPr>
            <a:r>
              <a:rPr lang="en-US" dirty="0"/>
              <a:t>more age (older)</a:t>
            </a:r>
          </a:p>
          <a:p>
            <a:pPr marL="285750" indent="-285750" algn="just">
              <a:buFont typeface="Arial" charset="0"/>
              <a:buChar char="•"/>
            </a:pPr>
            <a:r>
              <a:rPr lang="en-US" dirty="0"/>
              <a:t>More willingness to negotiate starting salary</a:t>
            </a:r>
          </a:p>
        </p:txBody>
      </p:sp>
      <p:pic>
        <p:nvPicPr>
          <p:cNvPr id="4" name="Content Placeholder 3"/>
          <p:cNvPicPr>
            <a:picLocks noChangeAspect="1"/>
          </p:cNvPicPr>
          <p:nvPr/>
        </p:nvPicPr>
        <p:blipFill rotWithShape="1">
          <a:blip r:embed="rId2" cstate="print">
            <a:extLst>
              <a:ext uri="{28A0092B-C50C-407E-A947-70E740481C1C}">
                <a14:useLocalDpi xmlns:a14="http://schemas.microsoft.com/office/drawing/2010/main" val="0"/>
              </a:ext>
            </a:extLst>
          </a:blip>
          <a:srcRect t="13704" b="25525"/>
          <a:stretch/>
        </p:blipFill>
        <p:spPr>
          <a:xfrm>
            <a:off x="4035405" y="3460830"/>
            <a:ext cx="4351339" cy="2273202"/>
          </a:xfrm>
          <a:prstGeom prst="rect">
            <a:avLst/>
          </a:prstGeom>
        </p:spPr>
      </p:pic>
      <p:grpSp>
        <p:nvGrpSpPr>
          <p:cNvPr id="11" name="Group 10"/>
          <p:cNvGrpSpPr/>
          <p:nvPr/>
        </p:nvGrpSpPr>
        <p:grpSpPr>
          <a:xfrm>
            <a:off x="8482508" y="3437680"/>
            <a:ext cx="1947260" cy="2287397"/>
            <a:chOff x="6619991" y="3157274"/>
            <a:chExt cx="1947260" cy="2790836"/>
          </a:xfrm>
        </p:grpSpPr>
        <p:pic>
          <p:nvPicPr>
            <p:cNvPr id="8" name="Content Placeholder 3"/>
            <p:cNvPicPr>
              <a:picLocks noChangeAspect="1"/>
            </p:cNvPicPr>
            <p:nvPr/>
          </p:nvPicPr>
          <p:blipFill rotWithShape="1">
            <a:blip r:embed="rId3" cstate="print">
              <a:extLst>
                <a:ext uri="{28A0092B-C50C-407E-A947-70E740481C1C}">
                  <a14:useLocalDpi xmlns:a14="http://schemas.microsoft.com/office/drawing/2010/main" val="0"/>
                </a:ext>
              </a:extLst>
            </a:blip>
            <a:srcRect l="43372" t="18165" r="8754" b="13220"/>
            <a:stretch/>
          </p:blipFill>
          <p:spPr>
            <a:xfrm>
              <a:off x="6619991" y="3157274"/>
              <a:ext cx="1947260" cy="2790836"/>
            </a:xfrm>
            <a:prstGeom prst="rect">
              <a:avLst/>
            </a:prstGeom>
          </p:spPr>
        </p:pic>
        <p:sp>
          <p:nvSpPr>
            <p:cNvPr id="9" name="TextBox 8"/>
            <p:cNvSpPr txBox="1"/>
            <p:nvPr/>
          </p:nvSpPr>
          <p:spPr>
            <a:xfrm>
              <a:off x="6905066" y="3482022"/>
              <a:ext cx="127747" cy="2281259"/>
            </a:xfrm>
            <a:prstGeom prst="rect">
              <a:avLst/>
            </a:prstGeom>
            <a:solidFill>
              <a:schemeClr val="bg1">
                <a:lumMod val="75000"/>
              </a:schemeClr>
            </a:solidFill>
          </p:spPr>
          <p:txBody>
            <a:bodyPr wrap="square" rtlCol="0">
              <a:spAutoFit/>
            </a:bodyPr>
            <a:lstStyle/>
            <a:p>
              <a:pPr algn="ctr"/>
              <a:r>
                <a:rPr lang="en-US" sz="1050" dirty="0"/>
                <a:t>oyyoyyyoyoo</a:t>
              </a:r>
            </a:p>
          </p:txBody>
        </p:sp>
        <p:sp>
          <p:nvSpPr>
            <p:cNvPr id="12" name="TextBox 11"/>
            <p:cNvSpPr txBox="1"/>
            <p:nvPr/>
          </p:nvSpPr>
          <p:spPr>
            <a:xfrm>
              <a:off x="7313352" y="3437565"/>
              <a:ext cx="127747" cy="2281259"/>
            </a:xfrm>
            <a:prstGeom prst="rect">
              <a:avLst/>
            </a:prstGeom>
            <a:solidFill>
              <a:schemeClr val="bg1">
                <a:lumMod val="75000"/>
              </a:schemeClr>
            </a:solidFill>
          </p:spPr>
          <p:txBody>
            <a:bodyPr wrap="square" rtlCol="0">
              <a:spAutoFit/>
            </a:bodyPr>
            <a:lstStyle/>
            <a:p>
              <a:pPr algn="ctr"/>
              <a:r>
                <a:rPr lang="en-US" sz="1050" dirty="0"/>
                <a:t>oooyyyoyoyy</a:t>
              </a:r>
            </a:p>
          </p:txBody>
        </p:sp>
        <p:sp>
          <p:nvSpPr>
            <p:cNvPr id="13" name="TextBox 12"/>
            <p:cNvSpPr txBox="1"/>
            <p:nvPr/>
          </p:nvSpPr>
          <p:spPr>
            <a:xfrm>
              <a:off x="7979318" y="3400926"/>
              <a:ext cx="127747" cy="2478404"/>
            </a:xfrm>
            <a:prstGeom prst="rect">
              <a:avLst/>
            </a:prstGeom>
            <a:solidFill>
              <a:schemeClr val="bg1">
                <a:lumMod val="75000"/>
              </a:schemeClr>
            </a:solidFill>
          </p:spPr>
          <p:txBody>
            <a:bodyPr wrap="square" rtlCol="0">
              <a:spAutoFit/>
            </a:bodyPr>
            <a:lstStyle/>
            <a:p>
              <a:pPr algn="ctr"/>
              <a:r>
                <a:rPr lang="en-US" sz="1050" dirty="0"/>
                <a:t>oyyoyyyoyooy</a:t>
              </a:r>
            </a:p>
          </p:txBody>
        </p:sp>
        <p:sp>
          <p:nvSpPr>
            <p:cNvPr id="14" name="TextBox 13"/>
            <p:cNvSpPr txBox="1"/>
            <p:nvPr/>
          </p:nvSpPr>
          <p:spPr>
            <a:xfrm>
              <a:off x="8387604" y="3356471"/>
              <a:ext cx="127747" cy="2281259"/>
            </a:xfrm>
            <a:prstGeom prst="rect">
              <a:avLst/>
            </a:prstGeom>
            <a:solidFill>
              <a:schemeClr val="bg1">
                <a:lumMod val="75000"/>
              </a:schemeClr>
            </a:solidFill>
          </p:spPr>
          <p:txBody>
            <a:bodyPr wrap="square" rtlCol="0">
              <a:spAutoFit/>
            </a:bodyPr>
            <a:lstStyle/>
            <a:p>
              <a:pPr algn="ctr"/>
              <a:r>
                <a:rPr lang="en-US" sz="1050" dirty="0"/>
                <a:t>oooyyyoyoyy</a:t>
              </a:r>
            </a:p>
          </p:txBody>
        </p:sp>
      </p:grpSp>
      <p:sp>
        <p:nvSpPr>
          <p:cNvPr id="10" name="TextBox 9"/>
          <p:cNvSpPr txBox="1"/>
          <p:nvPr/>
        </p:nvSpPr>
        <p:spPr>
          <a:xfrm>
            <a:off x="1822474" y="5877579"/>
            <a:ext cx="8755698" cy="646331"/>
          </a:xfrm>
          <a:prstGeom prst="rect">
            <a:avLst/>
          </a:prstGeom>
          <a:noFill/>
        </p:spPr>
        <p:txBody>
          <a:bodyPr wrap="square" rtlCol="0">
            <a:spAutoFit/>
          </a:bodyPr>
          <a:lstStyle/>
          <a:p>
            <a:r>
              <a:rPr lang="en-US" dirty="0"/>
              <a:t>In a randomized experiment, variables like age are also randomly distributed to each group, removing the confounding effect.</a:t>
            </a:r>
          </a:p>
        </p:txBody>
      </p:sp>
      <p:grpSp>
        <p:nvGrpSpPr>
          <p:cNvPr id="19" name="Group 18">
            <a:extLst>
              <a:ext uri="{FF2B5EF4-FFF2-40B4-BE49-F238E27FC236}">
                <a16:creationId xmlns:a16="http://schemas.microsoft.com/office/drawing/2014/main" id="{3C6E66A6-8123-4226-9540-CF45D318C48B}"/>
              </a:ext>
            </a:extLst>
          </p:cNvPr>
          <p:cNvGrpSpPr/>
          <p:nvPr/>
        </p:nvGrpSpPr>
        <p:grpSpPr>
          <a:xfrm>
            <a:off x="4024654" y="3427768"/>
            <a:ext cx="4351339" cy="2273202"/>
            <a:chOff x="2663804" y="3613230"/>
            <a:chExt cx="4351339" cy="2273202"/>
          </a:xfrm>
        </p:grpSpPr>
        <p:pic>
          <p:nvPicPr>
            <p:cNvPr id="16" name="Content Placeholder 3">
              <a:extLst>
                <a:ext uri="{FF2B5EF4-FFF2-40B4-BE49-F238E27FC236}">
                  <a16:creationId xmlns:a16="http://schemas.microsoft.com/office/drawing/2014/main" id="{BB08BF18-3BF5-4823-8581-1DC440F8EC9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3704" b="25525"/>
            <a:stretch/>
          </p:blipFill>
          <p:spPr>
            <a:xfrm>
              <a:off x="2663804" y="3613230"/>
              <a:ext cx="4351339" cy="2273202"/>
            </a:xfrm>
            <a:prstGeom prst="rect">
              <a:avLst/>
            </a:prstGeom>
          </p:spPr>
        </p:pic>
        <p:sp>
          <p:nvSpPr>
            <p:cNvPr id="17" name="TextBox 16">
              <a:extLst>
                <a:ext uri="{FF2B5EF4-FFF2-40B4-BE49-F238E27FC236}">
                  <a16:creationId xmlns:a16="http://schemas.microsoft.com/office/drawing/2014/main" id="{2D6E8D35-A074-4A12-8575-1F9C2C399436}"/>
                </a:ext>
              </a:extLst>
            </p:cNvPr>
            <p:cNvSpPr txBox="1"/>
            <p:nvPr/>
          </p:nvSpPr>
          <p:spPr>
            <a:xfrm>
              <a:off x="3446863" y="3994514"/>
              <a:ext cx="848799" cy="369332"/>
            </a:xfrm>
            <a:prstGeom prst="rect">
              <a:avLst/>
            </a:prstGeom>
            <a:solidFill>
              <a:schemeClr val="bg1">
                <a:lumMod val="75000"/>
              </a:schemeClr>
            </a:solidFill>
          </p:spPr>
          <p:txBody>
            <a:bodyPr wrap="square" rtlCol="0">
              <a:spAutoFit/>
            </a:bodyPr>
            <a:lstStyle/>
            <a:p>
              <a:pPr algn="ctr"/>
              <a:r>
                <a:rPr lang="en-US" dirty="0"/>
                <a:t>Older</a:t>
              </a:r>
            </a:p>
          </p:txBody>
        </p:sp>
        <p:sp>
          <p:nvSpPr>
            <p:cNvPr id="18" name="TextBox 17">
              <a:extLst>
                <a:ext uri="{FF2B5EF4-FFF2-40B4-BE49-F238E27FC236}">
                  <a16:creationId xmlns:a16="http://schemas.microsoft.com/office/drawing/2014/main" id="{0A2FC078-EB2B-4ACB-90EF-67EDA26C81EA}"/>
                </a:ext>
              </a:extLst>
            </p:cNvPr>
            <p:cNvSpPr txBox="1"/>
            <p:nvPr/>
          </p:nvSpPr>
          <p:spPr>
            <a:xfrm>
              <a:off x="5270654" y="3905480"/>
              <a:ext cx="1050709" cy="369332"/>
            </a:xfrm>
            <a:prstGeom prst="rect">
              <a:avLst/>
            </a:prstGeom>
            <a:solidFill>
              <a:schemeClr val="bg1">
                <a:lumMod val="75000"/>
              </a:schemeClr>
            </a:solidFill>
          </p:spPr>
          <p:txBody>
            <a:bodyPr wrap="square" rtlCol="0">
              <a:spAutoFit/>
            </a:bodyPr>
            <a:lstStyle/>
            <a:p>
              <a:r>
                <a:rPr lang="en-US" dirty="0"/>
                <a:t>Younger</a:t>
              </a:r>
            </a:p>
          </p:txBody>
        </p:sp>
      </p:grpSp>
      <p:sp>
        <p:nvSpPr>
          <p:cNvPr id="20" name="Title 1">
            <a:extLst>
              <a:ext uri="{FF2B5EF4-FFF2-40B4-BE49-F238E27FC236}">
                <a16:creationId xmlns:a16="http://schemas.microsoft.com/office/drawing/2014/main" id="{2D482DB0-2C9D-484E-9ED0-F118E1197D28}"/>
              </a:ext>
            </a:extLst>
          </p:cNvPr>
          <p:cNvSpPr txBox="1">
            <a:spLocks/>
          </p:cNvSpPr>
          <p:nvPr/>
        </p:nvSpPr>
        <p:spPr>
          <a:xfrm>
            <a:off x="1500611" y="95359"/>
            <a:ext cx="8938789" cy="132556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b="0" i="0" u="none" kern="1200">
                <a:solidFill>
                  <a:schemeClr val="tx1"/>
                </a:solidFill>
                <a:latin typeface="+mj-lt"/>
                <a:ea typeface="+mj-ea"/>
                <a:cs typeface="+mj-cs"/>
              </a:defRPr>
            </a:lvl1pPr>
          </a:lstStyle>
          <a:p>
            <a:r>
              <a:rPr lang="en-US" sz="3200"/>
              <a:t>Causal Inference:</a:t>
            </a:r>
            <a:br>
              <a:rPr lang="en-US" sz="3200"/>
            </a:br>
            <a:r>
              <a:rPr lang="en-US" sz="3200"/>
              <a:t>Randomized vs. Observational Study</a:t>
            </a:r>
            <a:endParaRPr lang="en-US" sz="3200" dirty="0"/>
          </a:p>
        </p:txBody>
      </p:sp>
    </p:spTree>
    <p:extLst>
      <p:ext uri="{BB962C8B-B14F-4D97-AF65-F5344CB8AC3E}">
        <p14:creationId xmlns:p14="http://schemas.microsoft.com/office/powerpoint/2010/main" val="2381021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A1499-9EE8-CC42-849A-71C9FA960E9B}"/>
              </a:ext>
            </a:extLst>
          </p:cNvPr>
          <p:cNvSpPr>
            <a:spLocks noGrp="1"/>
          </p:cNvSpPr>
          <p:nvPr>
            <p:ph type="title"/>
          </p:nvPr>
        </p:nvSpPr>
        <p:spPr>
          <a:xfrm>
            <a:off x="533400" y="2286000"/>
            <a:ext cx="11429999" cy="1325563"/>
          </a:xfrm>
        </p:spPr>
        <p:txBody>
          <a:bodyPr>
            <a:noAutofit/>
          </a:bodyPr>
          <a:lstStyle/>
          <a:p>
            <a:br>
              <a:rPr lang="en-US" dirty="0"/>
            </a:br>
            <a:r>
              <a:rPr lang="en-US" dirty="0"/>
              <a:t>Question 1: Quick Quiz Questions(&lt;= 1 hour)</a:t>
            </a:r>
          </a:p>
        </p:txBody>
      </p:sp>
    </p:spTree>
    <p:extLst>
      <p:ext uri="{BB962C8B-B14F-4D97-AF65-F5344CB8AC3E}">
        <p14:creationId xmlns:p14="http://schemas.microsoft.com/office/powerpoint/2010/main" val="1031210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95435-00EA-A545-A9B3-97B878F91181}"/>
              </a:ext>
            </a:extLst>
          </p:cNvPr>
          <p:cNvSpPr>
            <a:spLocks noGrp="1"/>
          </p:cNvSpPr>
          <p:nvPr>
            <p:ph type="title"/>
          </p:nvPr>
        </p:nvSpPr>
        <p:spPr/>
        <p:txBody>
          <a:bodyPr/>
          <a:lstStyle/>
          <a:p>
            <a:r>
              <a:rPr lang="en-US" dirty="0"/>
              <a:t>Quick Quiz Question 1 (QQ1)</a:t>
            </a:r>
          </a:p>
        </p:txBody>
      </p:sp>
      <p:pic>
        <p:nvPicPr>
          <p:cNvPr id="4" name="Picture 3">
            <a:extLst>
              <a:ext uri="{FF2B5EF4-FFF2-40B4-BE49-F238E27FC236}">
                <a16:creationId xmlns:a16="http://schemas.microsoft.com/office/drawing/2014/main" id="{F2EDE1F7-72ED-0D4D-B07C-F4E6AC1267C1}"/>
              </a:ext>
            </a:extLst>
          </p:cNvPr>
          <p:cNvPicPr>
            <a:picLocks noChangeAspect="1"/>
          </p:cNvPicPr>
          <p:nvPr/>
        </p:nvPicPr>
        <p:blipFill>
          <a:blip r:embed="rId2"/>
          <a:stretch>
            <a:fillRect/>
          </a:stretch>
        </p:blipFill>
        <p:spPr>
          <a:xfrm>
            <a:off x="1917700" y="2037773"/>
            <a:ext cx="8356600" cy="3429000"/>
          </a:xfrm>
          <a:prstGeom prst="rect">
            <a:avLst/>
          </a:prstGeom>
        </p:spPr>
      </p:pic>
    </p:spTree>
    <p:extLst>
      <p:ext uri="{BB962C8B-B14F-4D97-AF65-F5344CB8AC3E}">
        <p14:creationId xmlns:p14="http://schemas.microsoft.com/office/powerpoint/2010/main" val="450303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95435-00EA-A545-A9B3-97B878F91181}"/>
              </a:ext>
            </a:extLst>
          </p:cNvPr>
          <p:cNvSpPr>
            <a:spLocks noGrp="1"/>
          </p:cNvSpPr>
          <p:nvPr>
            <p:ph type="title"/>
          </p:nvPr>
        </p:nvSpPr>
        <p:spPr/>
        <p:txBody>
          <a:bodyPr/>
          <a:lstStyle/>
          <a:p>
            <a:r>
              <a:rPr lang="en-US" dirty="0"/>
              <a:t>Quick Quiz Question 2 (QQ2)</a:t>
            </a:r>
          </a:p>
        </p:txBody>
      </p:sp>
      <p:pic>
        <p:nvPicPr>
          <p:cNvPr id="3" name="Picture 2">
            <a:extLst>
              <a:ext uri="{FF2B5EF4-FFF2-40B4-BE49-F238E27FC236}">
                <a16:creationId xmlns:a16="http://schemas.microsoft.com/office/drawing/2014/main" id="{92373BE0-A076-3C4A-B309-A07759A49BCC}"/>
              </a:ext>
            </a:extLst>
          </p:cNvPr>
          <p:cNvPicPr>
            <a:picLocks noChangeAspect="1"/>
          </p:cNvPicPr>
          <p:nvPr/>
        </p:nvPicPr>
        <p:blipFill rotWithShape="1">
          <a:blip r:embed="rId2"/>
          <a:srcRect t="9589"/>
          <a:stretch/>
        </p:blipFill>
        <p:spPr>
          <a:xfrm>
            <a:off x="1778000" y="2327564"/>
            <a:ext cx="8636000" cy="3766127"/>
          </a:xfrm>
          <a:prstGeom prst="rect">
            <a:avLst/>
          </a:prstGeom>
        </p:spPr>
      </p:pic>
    </p:spTree>
    <p:extLst>
      <p:ext uri="{BB962C8B-B14F-4D97-AF65-F5344CB8AC3E}">
        <p14:creationId xmlns:p14="http://schemas.microsoft.com/office/powerpoint/2010/main" val="35078644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95435-00EA-A545-A9B3-97B878F91181}"/>
              </a:ext>
            </a:extLst>
          </p:cNvPr>
          <p:cNvSpPr>
            <a:spLocks noGrp="1"/>
          </p:cNvSpPr>
          <p:nvPr>
            <p:ph type="title"/>
          </p:nvPr>
        </p:nvSpPr>
        <p:spPr/>
        <p:txBody>
          <a:bodyPr/>
          <a:lstStyle/>
          <a:p>
            <a:r>
              <a:rPr lang="en-US" dirty="0"/>
              <a:t>Quick Quiz Question 3 (QQ3)</a:t>
            </a:r>
          </a:p>
        </p:txBody>
      </p:sp>
      <p:pic>
        <p:nvPicPr>
          <p:cNvPr id="3" name="Picture 2">
            <a:extLst>
              <a:ext uri="{FF2B5EF4-FFF2-40B4-BE49-F238E27FC236}">
                <a16:creationId xmlns:a16="http://schemas.microsoft.com/office/drawing/2014/main" id="{7A929460-9843-B247-964B-A855ACC75759}"/>
              </a:ext>
            </a:extLst>
          </p:cNvPr>
          <p:cNvPicPr>
            <a:picLocks noChangeAspect="1"/>
          </p:cNvPicPr>
          <p:nvPr/>
        </p:nvPicPr>
        <p:blipFill rotWithShape="1">
          <a:blip r:embed="rId2"/>
          <a:srcRect t="6351"/>
          <a:stretch/>
        </p:blipFill>
        <p:spPr>
          <a:xfrm>
            <a:off x="2401448" y="1690689"/>
            <a:ext cx="7389104" cy="4630304"/>
          </a:xfrm>
          <a:prstGeom prst="rect">
            <a:avLst/>
          </a:prstGeom>
        </p:spPr>
      </p:pic>
    </p:spTree>
    <p:extLst>
      <p:ext uri="{BB962C8B-B14F-4D97-AF65-F5344CB8AC3E}">
        <p14:creationId xmlns:p14="http://schemas.microsoft.com/office/powerpoint/2010/main" val="22000575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7BA85-BAE0-EF40-9EFE-673BAE226153}"/>
              </a:ext>
            </a:extLst>
          </p:cNvPr>
          <p:cNvSpPr>
            <a:spLocks noGrp="1"/>
          </p:cNvSpPr>
          <p:nvPr>
            <p:ph type="title"/>
          </p:nvPr>
        </p:nvSpPr>
        <p:spPr/>
        <p:txBody>
          <a:bodyPr/>
          <a:lstStyle/>
          <a:p>
            <a:r>
              <a:rPr lang="en-US" dirty="0"/>
              <a:t>Break Out 1</a:t>
            </a:r>
          </a:p>
        </p:txBody>
      </p:sp>
      <p:sp>
        <p:nvSpPr>
          <p:cNvPr id="3" name="Content Placeholder 2">
            <a:extLst>
              <a:ext uri="{FF2B5EF4-FFF2-40B4-BE49-F238E27FC236}">
                <a16:creationId xmlns:a16="http://schemas.microsoft.com/office/drawing/2014/main" id="{5B889696-7BAE-8746-9BEB-FAFA75FE991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0262040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E2164FB9-D7D2-6B4F-8D30-725BBD3FD3B7}"/>
                  </a:ext>
                </a:extLst>
              </p:cNvPr>
              <p:cNvSpPr>
                <a:spLocks noGrp="1"/>
              </p:cNvSpPr>
              <p:nvPr>
                <p:ph type="title"/>
              </p:nvPr>
            </p:nvSpPr>
            <p:spPr/>
            <p:txBody>
              <a:bodyPr/>
              <a:lstStyle/>
              <a:p>
                <a:r>
                  <a:rPr lang="en-US" dirty="0"/>
                  <a:t>Question 2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1 </m:t>
                    </m:r>
                    <m:r>
                      <a:rPr lang="en-US" b="0" i="1" smtClean="0">
                        <a:latin typeface="Cambria Math" panose="02040503050406030204" pitchFamily="18" charset="0"/>
                        <a:ea typeface="Cambria Math" panose="02040503050406030204" pitchFamily="18" charset="0"/>
                      </a:rPr>
                      <m:t>h𝑜𝑢𝑟</m:t>
                    </m:r>
                    <m:r>
                      <a:rPr lang="en-US" b="0" i="1" smtClean="0">
                        <a:latin typeface="Cambria Math" panose="02040503050406030204" pitchFamily="18" charset="0"/>
                        <a:ea typeface="Cambria Math" panose="02040503050406030204" pitchFamily="18" charset="0"/>
                      </a:rPr>
                      <m:t>)</m:t>
                    </m:r>
                  </m:oMath>
                </a14:m>
                <a:endParaRPr lang="en-US" dirty="0"/>
              </a:p>
            </p:txBody>
          </p:sp>
        </mc:Choice>
        <mc:Fallback xmlns="">
          <p:sp>
            <p:nvSpPr>
              <p:cNvPr id="2" name="Title 1">
                <a:extLst>
                  <a:ext uri="{FF2B5EF4-FFF2-40B4-BE49-F238E27FC236}">
                    <a16:creationId xmlns:a16="http://schemas.microsoft.com/office/drawing/2014/main" id="{E2164FB9-D7D2-6B4F-8D30-725BBD3FD3B7}"/>
                  </a:ext>
                </a:extLst>
              </p:cNvPr>
              <p:cNvSpPr>
                <a:spLocks noGrp="1" noRot="1" noChangeAspect="1" noMove="1" noResize="1" noEditPoints="1" noAdjustHandles="1" noChangeArrowheads="1" noChangeShapeType="1" noTextEdit="1"/>
              </p:cNvSpPr>
              <p:nvPr>
                <p:ph type="title"/>
              </p:nvPr>
            </p:nvSpPr>
            <p:spPr>
              <a:blipFill>
                <a:blip r:embed="rId2"/>
                <a:stretch>
                  <a:fillRect b="-8791"/>
                </a:stretch>
              </a:blipFill>
            </p:spPr>
            <p:txBody>
              <a:bodyPr/>
              <a:lstStyle/>
              <a:p>
                <a:r>
                  <a:rPr lang="en-US">
                    <a:noFill/>
                  </a:rPr>
                  <a:t> </a:t>
                </a:r>
              </a:p>
            </p:txBody>
          </p:sp>
        </mc:Fallback>
      </mc:AlternateContent>
      <p:sp>
        <p:nvSpPr>
          <p:cNvPr id="3" name="Content Placeholder 2">
            <a:extLst>
              <a:ext uri="{FF2B5EF4-FFF2-40B4-BE49-F238E27FC236}">
                <a16:creationId xmlns:a16="http://schemas.microsoft.com/office/drawing/2014/main" id="{E8BCA2EC-6792-5645-8E33-D3ED75B06D03}"/>
              </a:ext>
            </a:extLst>
          </p:cNvPr>
          <p:cNvSpPr>
            <a:spLocks noGrp="1"/>
          </p:cNvSpPr>
          <p:nvPr>
            <p:ph idx="1"/>
          </p:nvPr>
        </p:nvSpPr>
        <p:spPr/>
        <p:txBody>
          <a:bodyPr>
            <a:normAutofit/>
          </a:bodyPr>
          <a:lstStyle/>
          <a:p>
            <a:pPr lvl="0"/>
            <a:r>
              <a:rPr lang="en-US" dirty="0"/>
              <a:t>What is the difference between a randomized experiment and a random sample?  Under what type of study/sample can a causal inference be made? </a:t>
            </a:r>
          </a:p>
          <a:p>
            <a:pPr marL="0" indent="0">
              <a:buNone/>
            </a:pPr>
            <a:endParaRPr lang="en-US" dirty="0"/>
          </a:p>
        </p:txBody>
      </p:sp>
    </p:spTree>
    <p:extLst>
      <p:ext uri="{BB962C8B-B14F-4D97-AF65-F5344CB8AC3E}">
        <p14:creationId xmlns:p14="http://schemas.microsoft.com/office/powerpoint/2010/main" val="1442600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E2164FB9-D7D2-6B4F-8D30-725BBD3FD3B7}"/>
                  </a:ext>
                </a:extLst>
              </p:cNvPr>
              <p:cNvSpPr>
                <a:spLocks noGrp="1"/>
              </p:cNvSpPr>
              <p:nvPr>
                <p:ph type="title"/>
              </p:nvPr>
            </p:nvSpPr>
            <p:spPr/>
            <p:txBody>
              <a:bodyPr/>
              <a:lstStyle/>
              <a:p>
                <a:r>
                  <a:rPr lang="en-US" dirty="0"/>
                  <a:t>Question 2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1 </m:t>
                    </m:r>
                    <m:r>
                      <a:rPr lang="en-US" b="0" i="1" smtClean="0">
                        <a:latin typeface="Cambria Math" panose="02040503050406030204" pitchFamily="18" charset="0"/>
                        <a:ea typeface="Cambria Math" panose="02040503050406030204" pitchFamily="18" charset="0"/>
                      </a:rPr>
                      <m:t>h𝑜𝑢𝑟</m:t>
                    </m:r>
                    <m:r>
                      <a:rPr lang="en-US" b="0" i="1" smtClean="0">
                        <a:latin typeface="Cambria Math" panose="02040503050406030204" pitchFamily="18" charset="0"/>
                        <a:ea typeface="Cambria Math" panose="02040503050406030204" pitchFamily="18" charset="0"/>
                      </a:rPr>
                      <m:t>)</m:t>
                    </m:r>
                  </m:oMath>
                </a14:m>
                <a:endParaRPr lang="en-US" dirty="0"/>
              </a:p>
            </p:txBody>
          </p:sp>
        </mc:Choice>
        <mc:Fallback xmlns="">
          <p:sp>
            <p:nvSpPr>
              <p:cNvPr id="2" name="Title 1">
                <a:extLst>
                  <a:ext uri="{FF2B5EF4-FFF2-40B4-BE49-F238E27FC236}">
                    <a16:creationId xmlns:a16="http://schemas.microsoft.com/office/drawing/2014/main" id="{E2164FB9-D7D2-6B4F-8D30-725BBD3FD3B7}"/>
                  </a:ext>
                </a:extLst>
              </p:cNvPr>
              <p:cNvSpPr>
                <a:spLocks noGrp="1" noRot="1" noChangeAspect="1" noMove="1" noResize="1" noEditPoints="1" noAdjustHandles="1" noChangeArrowheads="1" noChangeShapeType="1" noTextEdit="1"/>
              </p:cNvSpPr>
              <p:nvPr>
                <p:ph type="title"/>
              </p:nvPr>
            </p:nvSpPr>
            <p:spPr>
              <a:blipFill>
                <a:blip r:embed="rId2"/>
                <a:stretch>
                  <a:fillRect b="-8791"/>
                </a:stretch>
              </a:blipFill>
            </p:spPr>
            <p:txBody>
              <a:bodyPr/>
              <a:lstStyle/>
              <a:p>
                <a:r>
                  <a:rPr lang="en-US">
                    <a:noFill/>
                  </a:rPr>
                  <a:t> </a:t>
                </a:r>
              </a:p>
            </p:txBody>
          </p:sp>
        </mc:Fallback>
      </mc:AlternateContent>
      <p:sp>
        <p:nvSpPr>
          <p:cNvPr id="3" name="Content Placeholder 2">
            <a:extLst>
              <a:ext uri="{FF2B5EF4-FFF2-40B4-BE49-F238E27FC236}">
                <a16:creationId xmlns:a16="http://schemas.microsoft.com/office/drawing/2014/main" id="{E8BCA2EC-6792-5645-8E33-D3ED75B06D03}"/>
              </a:ext>
            </a:extLst>
          </p:cNvPr>
          <p:cNvSpPr>
            <a:spLocks noGrp="1"/>
          </p:cNvSpPr>
          <p:nvPr>
            <p:ph idx="1"/>
          </p:nvPr>
        </p:nvSpPr>
        <p:spPr>
          <a:xfrm>
            <a:off x="381000" y="1716903"/>
            <a:ext cx="5943600" cy="4525963"/>
          </a:xfrm>
        </p:spPr>
        <p:txBody>
          <a:bodyPr>
            <a:normAutofit/>
          </a:bodyPr>
          <a:lstStyle/>
          <a:p>
            <a:pPr lvl="0"/>
            <a:r>
              <a:rPr lang="en-US" dirty="0"/>
              <a:t>What is the difference between a randomized experiment and a random sample?  Under what type of study/sample can a causal inference be made? </a:t>
            </a:r>
          </a:p>
          <a:p>
            <a:pPr marL="0" indent="0">
              <a:buNone/>
            </a:pPr>
            <a:endParaRPr lang="en-US" dirty="0"/>
          </a:p>
        </p:txBody>
      </p:sp>
      <p:pic>
        <p:nvPicPr>
          <p:cNvPr id="4" name="Content Placeholder 3">
            <a:extLst>
              <a:ext uri="{FF2B5EF4-FFF2-40B4-BE49-F238E27FC236}">
                <a16:creationId xmlns:a16="http://schemas.microsoft.com/office/drawing/2014/main" id="{3EAE413F-5987-1443-B78D-8C0178CDE5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53200" y="1483501"/>
            <a:ext cx="4842224" cy="4759365"/>
          </a:xfrm>
          <a:prstGeom prst="rect">
            <a:avLst/>
          </a:prstGeom>
        </p:spPr>
      </p:pic>
    </p:spTree>
    <p:extLst>
      <p:ext uri="{BB962C8B-B14F-4D97-AF65-F5344CB8AC3E}">
        <p14:creationId xmlns:p14="http://schemas.microsoft.com/office/powerpoint/2010/main" val="391225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53A308F9-2852-AB46-A678-FC46800371BA}"/>
                  </a:ext>
                </a:extLst>
              </p:cNvPr>
              <p:cNvSpPr>
                <a:spLocks noGrp="1"/>
              </p:cNvSpPr>
              <p:nvPr>
                <p:ph type="title"/>
              </p:nvPr>
            </p:nvSpPr>
            <p:spPr/>
            <p:txBody>
              <a:bodyPr/>
              <a:lstStyle/>
              <a:p>
                <a:r>
                  <a:rPr lang="en-US" dirty="0"/>
                  <a:t>Question 3 (</a:t>
                </a:r>
                <a14:m>
                  <m:oMath xmlns:m="http://schemas.openxmlformats.org/officeDocument/2006/math">
                    <m:r>
                      <a:rPr lang="en-US" i="1">
                        <a:latin typeface="Cambria Math" panose="02040503050406030204" pitchFamily="18" charset="0"/>
                        <a:ea typeface="Cambria Math" panose="02040503050406030204" pitchFamily="18" charset="0"/>
                      </a:rPr>
                      <m:t>1 </m:t>
                    </m:r>
                    <m:r>
                      <a:rPr lang="en-US" i="1">
                        <a:latin typeface="Cambria Math" panose="02040503050406030204" pitchFamily="18" charset="0"/>
                        <a:ea typeface="Cambria Math" panose="02040503050406030204" pitchFamily="18" charset="0"/>
                      </a:rPr>
                      <m:t>h𝑜𝑢𝑟</m:t>
                    </m:r>
                    <m:r>
                      <a:rPr lang="en-US" i="1">
                        <a:latin typeface="Cambria Math" panose="02040503050406030204" pitchFamily="18" charset="0"/>
                        <a:ea typeface="Cambria Math" panose="02040503050406030204" pitchFamily="18" charset="0"/>
                      </a:rPr>
                      <m:t>)</m:t>
                    </m:r>
                  </m:oMath>
                </a14:m>
                <a:endParaRPr lang="en-US" dirty="0"/>
              </a:p>
            </p:txBody>
          </p:sp>
        </mc:Choice>
        <mc:Fallback xmlns="">
          <p:sp>
            <p:nvSpPr>
              <p:cNvPr id="2" name="Title 1">
                <a:extLst>
                  <a:ext uri="{FF2B5EF4-FFF2-40B4-BE49-F238E27FC236}">
                    <a16:creationId xmlns:a16="http://schemas.microsoft.com/office/drawing/2014/main" id="{53A308F9-2852-AB46-A678-FC46800371BA}"/>
                  </a:ext>
                </a:extLst>
              </p:cNvPr>
              <p:cNvSpPr>
                <a:spLocks noGrp="1" noRot="1" noChangeAspect="1" noMove="1" noResize="1" noEditPoints="1" noAdjustHandles="1" noChangeArrowheads="1" noChangeShapeType="1" noTextEdit="1"/>
              </p:cNvSpPr>
              <p:nvPr>
                <p:ph type="title"/>
              </p:nvPr>
            </p:nvSpPr>
            <p:spPr>
              <a:blipFill>
                <a:blip r:embed="rId2"/>
                <a:stretch>
                  <a:fillRect b="-8791"/>
                </a:stretch>
              </a:blipFill>
            </p:spPr>
            <p:txBody>
              <a:bodyPr/>
              <a:lstStyle/>
              <a:p>
                <a:r>
                  <a:rPr lang="en-US">
                    <a:noFill/>
                  </a:rPr>
                  <a:t> </a:t>
                </a:r>
              </a:p>
            </p:txBody>
          </p:sp>
        </mc:Fallback>
      </mc:AlternateContent>
      <p:sp>
        <p:nvSpPr>
          <p:cNvPr id="3" name="Content Placeholder 2">
            <a:extLst>
              <a:ext uri="{FF2B5EF4-FFF2-40B4-BE49-F238E27FC236}">
                <a16:creationId xmlns:a16="http://schemas.microsoft.com/office/drawing/2014/main" id="{CC740959-42D6-4F4C-B419-CC3418F76B03}"/>
              </a:ext>
            </a:extLst>
          </p:cNvPr>
          <p:cNvSpPr>
            <a:spLocks noGrp="1"/>
          </p:cNvSpPr>
          <p:nvPr>
            <p:ph idx="1"/>
          </p:nvPr>
        </p:nvSpPr>
        <p:spPr>
          <a:xfrm>
            <a:off x="266700" y="1575430"/>
            <a:ext cx="11658599" cy="2792739"/>
          </a:xfrm>
        </p:spPr>
        <p:txBody>
          <a:bodyPr>
            <a:normAutofit fontScale="85000" lnSpcReduction="20000"/>
          </a:bodyPr>
          <a:lstStyle/>
          <a:p>
            <a:pPr lvl="0"/>
            <a:r>
              <a:rPr lang="en-US" dirty="0"/>
              <a:t>In 1936, the </a:t>
            </a:r>
            <a:r>
              <a:rPr lang="en-US" i="1" dirty="0"/>
              <a:t>Literary Digest </a:t>
            </a:r>
            <a:r>
              <a:rPr lang="en-US" dirty="0"/>
              <a:t>polled 1 out of every 4 Americans and concluded that Alfred Landon would win the presidential election in a </a:t>
            </a:r>
            <a:r>
              <a:rPr lang="en-US" dirty="0" err="1"/>
              <a:t>landon</a:t>
            </a:r>
            <a:r>
              <a:rPr lang="en-US" dirty="0"/>
              <a:t>-slide (pun intended:).  Of course, history turned out dramatically different (see </a:t>
            </a:r>
            <a:r>
              <a:rPr lang="en-US" u="sng" dirty="0">
                <a:hlinkClick r:id="rId3"/>
              </a:rPr>
              <a:t>http://historymatters.gmu.edu/d/5168/</a:t>
            </a:r>
            <a:r>
              <a:rPr lang="en-US" dirty="0"/>
              <a:t> for further details).  The magazine combined three sampling sources: subscribers to its magazine, phone number records, and automobile registration records.  Comment on the desired population of interest of the survey and what population the magazine actually drew from.     </a:t>
            </a:r>
          </a:p>
          <a:p>
            <a:endParaRPr lang="en-US" dirty="0"/>
          </a:p>
        </p:txBody>
      </p:sp>
      <p:pic>
        <p:nvPicPr>
          <p:cNvPr id="4" name="Picture 3">
            <a:extLst>
              <a:ext uri="{FF2B5EF4-FFF2-40B4-BE49-F238E27FC236}">
                <a16:creationId xmlns:a16="http://schemas.microsoft.com/office/drawing/2014/main" id="{9B6575DD-855C-8E49-9F20-EED5BDB4CD79}"/>
              </a:ext>
            </a:extLst>
          </p:cNvPr>
          <p:cNvPicPr>
            <a:picLocks noChangeAspect="1"/>
          </p:cNvPicPr>
          <p:nvPr/>
        </p:nvPicPr>
        <p:blipFill>
          <a:blip r:embed="rId4"/>
          <a:stretch>
            <a:fillRect/>
          </a:stretch>
        </p:blipFill>
        <p:spPr>
          <a:xfrm>
            <a:off x="5257800" y="4439928"/>
            <a:ext cx="1603172" cy="2113272"/>
          </a:xfrm>
          <a:prstGeom prst="rect">
            <a:avLst/>
          </a:prstGeom>
        </p:spPr>
      </p:pic>
    </p:spTree>
    <p:extLst>
      <p:ext uri="{BB962C8B-B14F-4D97-AF65-F5344CB8AC3E}">
        <p14:creationId xmlns:p14="http://schemas.microsoft.com/office/powerpoint/2010/main" val="4124564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7BA85-BAE0-EF40-9EFE-673BAE226153}"/>
              </a:ext>
            </a:extLst>
          </p:cNvPr>
          <p:cNvSpPr>
            <a:spLocks noGrp="1"/>
          </p:cNvSpPr>
          <p:nvPr>
            <p:ph type="title"/>
          </p:nvPr>
        </p:nvSpPr>
        <p:spPr/>
        <p:txBody>
          <a:bodyPr/>
          <a:lstStyle/>
          <a:p>
            <a:r>
              <a:rPr lang="en-US" dirty="0"/>
              <a:t>End Break Out 1</a:t>
            </a:r>
          </a:p>
        </p:txBody>
      </p:sp>
      <p:sp>
        <p:nvSpPr>
          <p:cNvPr id="3" name="Content Placeholder 2">
            <a:extLst>
              <a:ext uri="{FF2B5EF4-FFF2-40B4-BE49-F238E27FC236}">
                <a16:creationId xmlns:a16="http://schemas.microsoft.com/office/drawing/2014/main" id="{5B889696-7BAE-8746-9BEB-FAFA75FE991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7900469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7BA85-BAE0-EF40-9EFE-673BAE226153}"/>
              </a:ext>
            </a:extLst>
          </p:cNvPr>
          <p:cNvSpPr>
            <a:spLocks noGrp="1"/>
          </p:cNvSpPr>
          <p:nvPr>
            <p:ph type="title"/>
          </p:nvPr>
        </p:nvSpPr>
        <p:spPr/>
        <p:txBody>
          <a:bodyPr/>
          <a:lstStyle/>
          <a:p>
            <a:r>
              <a:rPr lang="en-US" dirty="0"/>
              <a:t>Break Out 2</a:t>
            </a:r>
          </a:p>
        </p:txBody>
      </p:sp>
      <p:sp>
        <p:nvSpPr>
          <p:cNvPr id="3" name="Content Placeholder 2">
            <a:extLst>
              <a:ext uri="{FF2B5EF4-FFF2-40B4-BE49-F238E27FC236}">
                <a16:creationId xmlns:a16="http://schemas.microsoft.com/office/drawing/2014/main" id="{5B889696-7BAE-8746-9BEB-FAFA75FE991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4929904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90576866-BE91-304E-AD1D-94AE5CF1351C}"/>
                  </a:ext>
                </a:extLst>
              </p:cNvPr>
              <p:cNvSpPr>
                <a:spLocks noGrp="1"/>
              </p:cNvSpPr>
              <p:nvPr>
                <p:ph type="title"/>
              </p:nvPr>
            </p:nvSpPr>
            <p:spPr/>
            <p:txBody>
              <a:bodyPr/>
              <a:lstStyle/>
              <a:p>
                <a:r>
                  <a:rPr lang="en-US" dirty="0"/>
                  <a:t>Question 4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1 hour)</a:t>
                </a:r>
              </a:p>
            </p:txBody>
          </p:sp>
        </mc:Choice>
        <mc:Fallback xmlns="">
          <p:sp>
            <p:nvSpPr>
              <p:cNvPr id="2" name="Title 1">
                <a:extLst>
                  <a:ext uri="{FF2B5EF4-FFF2-40B4-BE49-F238E27FC236}">
                    <a16:creationId xmlns:a16="http://schemas.microsoft.com/office/drawing/2014/main" id="{90576866-BE91-304E-AD1D-94AE5CF1351C}"/>
                  </a:ext>
                </a:extLst>
              </p:cNvPr>
              <p:cNvSpPr>
                <a:spLocks noGrp="1" noRot="1" noChangeAspect="1" noMove="1" noResize="1" noEditPoints="1" noAdjustHandles="1" noChangeArrowheads="1" noChangeShapeType="1" noTextEdit="1"/>
              </p:cNvSpPr>
              <p:nvPr>
                <p:ph type="title"/>
              </p:nvPr>
            </p:nvSpPr>
            <p:spPr>
              <a:blipFill>
                <a:blip r:embed="rId2"/>
                <a:stretch>
                  <a:fillRect b="-8791"/>
                </a:stretch>
              </a:blipFill>
            </p:spPr>
            <p:txBody>
              <a:bodyPr/>
              <a:lstStyle/>
              <a:p>
                <a:r>
                  <a:rPr lang="en-US">
                    <a:noFill/>
                  </a:rPr>
                  <a:t> </a:t>
                </a:r>
              </a:p>
            </p:txBody>
          </p:sp>
        </mc:Fallback>
      </mc:AlternateContent>
      <p:sp>
        <p:nvSpPr>
          <p:cNvPr id="3" name="Content Placeholder 2">
            <a:extLst>
              <a:ext uri="{FF2B5EF4-FFF2-40B4-BE49-F238E27FC236}">
                <a16:creationId xmlns:a16="http://schemas.microsoft.com/office/drawing/2014/main" id="{4742CA7B-F13C-1D46-842B-EDDA4026961A}"/>
              </a:ext>
            </a:extLst>
          </p:cNvPr>
          <p:cNvSpPr>
            <a:spLocks noGrp="1"/>
          </p:cNvSpPr>
          <p:nvPr>
            <p:ph idx="1"/>
          </p:nvPr>
        </p:nvSpPr>
        <p:spPr/>
        <p:txBody>
          <a:bodyPr>
            <a:normAutofit fontScale="77500" lnSpcReduction="20000"/>
          </a:bodyPr>
          <a:lstStyle/>
          <a:p>
            <a:pPr lvl="0"/>
            <a:r>
              <a:rPr lang="en-US" dirty="0"/>
              <a:t>Suppose we have developed a new fertilizer that is supposed to help corn yields.  This fertilizer is so potent that a small vial of it sprayed over an entire field is a sufficient dose.  We find that the new fertilizer results in an average yield of 60 more bushels over the old fertilizer with a p-value of 0.0001.  Write up a scope of inference under the following study designs that generated this data.</a:t>
            </a:r>
          </a:p>
          <a:p>
            <a:pPr lvl="1"/>
            <a:r>
              <a:rPr lang="en-US" dirty="0"/>
              <a:t>We offer the new fertilizer at a discount to customers who have purchased the old fertilizer along with a survey for them to fill out.  Some farmers send in the survey after the growing season, reporting their crop yield. From our records, we know which of these farmers used the new fertilizer and which used the old one.</a:t>
            </a:r>
          </a:p>
          <a:p>
            <a:pPr lvl="1"/>
            <a:r>
              <a:rPr lang="en-US" dirty="0"/>
              <a:t>When a customer makes an order, we randomly send them either the old or new fertilizer.  At the end of the season, some of the farmers send us a report of their yield.  Again, from our records, we know which of these farmers used the new fertilizer and which used the old.  </a:t>
            </a:r>
          </a:p>
          <a:p>
            <a:endParaRPr lang="en-US" dirty="0"/>
          </a:p>
        </p:txBody>
      </p:sp>
    </p:spTree>
    <p:extLst>
      <p:ext uri="{BB962C8B-B14F-4D97-AF65-F5344CB8AC3E}">
        <p14:creationId xmlns:p14="http://schemas.microsoft.com/office/powerpoint/2010/main" val="38470031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7BA85-BAE0-EF40-9EFE-673BAE226153}"/>
              </a:ext>
            </a:extLst>
          </p:cNvPr>
          <p:cNvSpPr>
            <a:spLocks noGrp="1"/>
          </p:cNvSpPr>
          <p:nvPr>
            <p:ph type="title"/>
          </p:nvPr>
        </p:nvSpPr>
        <p:spPr/>
        <p:txBody>
          <a:bodyPr/>
          <a:lstStyle/>
          <a:p>
            <a:r>
              <a:rPr lang="en-US" dirty="0"/>
              <a:t>End Break Out 2</a:t>
            </a:r>
          </a:p>
        </p:txBody>
      </p:sp>
      <p:sp>
        <p:nvSpPr>
          <p:cNvPr id="3" name="Content Placeholder 2">
            <a:extLst>
              <a:ext uri="{FF2B5EF4-FFF2-40B4-BE49-F238E27FC236}">
                <a16:creationId xmlns:a16="http://schemas.microsoft.com/office/drawing/2014/main" id="{5B889696-7BAE-8746-9BEB-FAFA75FE991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742498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7BA85-BAE0-EF40-9EFE-673BAE226153}"/>
              </a:ext>
            </a:extLst>
          </p:cNvPr>
          <p:cNvSpPr>
            <a:spLocks noGrp="1"/>
          </p:cNvSpPr>
          <p:nvPr>
            <p:ph type="title"/>
          </p:nvPr>
        </p:nvSpPr>
        <p:spPr/>
        <p:txBody>
          <a:bodyPr/>
          <a:lstStyle/>
          <a:p>
            <a:r>
              <a:rPr lang="en-US" dirty="0"/>
              <a:t>Break Out 3</a:t>
            </a:r>
          </a:p>
        </p:txBody>
      </p:sp>
      <p:sp>
        <p:nvSpPr>
          <p:cNvPr id="3" name="Content Placeholder 2">
            <a:extLst>
              <a:ext uri="{FF2B5EF4-FFF2-40B4-BE49-F238E27FC236}">
                <a16:creationId xmlns:a16="http://schemas.microsoft.com/office/drawing/2014/main" id="{5B889696-7BAE-8746-9BEB-FAFA75FE991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007749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with Scope: Q1</a:t>
            </a:r>
          </a:p>
        </p:txBody>
      </p:sp>
      <p:sp>
        <p:nvSpPr>
          <p:cNvPr id="3" name="Content Placeholder 2"/>
          <p:cNvSpPr>
            <a:spLocks noGrp="1"/>
          </p:cNvSpPr>
          <p:nvPr>
            <p:ph idx="1"/>
          </p:nvPr>
        </p:nvSpPr>
        <p:spPr>
          <a:xfrm>
            <a:off x="380999" y="1533713"/>
            <a:ext cx="10040591" cy="2693506"/>
          </a:xfrm>
        </p:spPr>
        <p:txBody>
          <a:bodyPr>
            <a:normAutofit fontScale="70000" lnSpcReduction="20000"/>
          </a:bodyPr>
          <a:lstStyle/>
          <a:p>
            <a:pPr marL="0" indent="0">
              <a:buNone/>
            </a:pPr>
            <a:r>
              <a:rPr lang="en-US" dirty="0"/>
              <a:t>A particular study focused on high school freshman and seniors and their GPAs in a required economics class.  The study consisted of enumerating every freshman and senior in the school and randomly selecting them from that sampling frame.  Their scores in the economics class were then recorded, and a hypothesis test for the difference of means was conducted.  The seniors were found to have a significantly greater mean score in the class than the freshman.  What sort of conclusions can be made from this study? In other words, what is the scope of this study? In this class, scope typically constitutes both the causal inferences and populations inferences.</a:t>
            </a:r>
          </a:p>
        </p:txBody>
      </p:sp>
      <p:sp>
        <p:nvSpPr>
          <p:cNvPr id="8" name="TextBox 7"/>
          <p:cNvSpPr txBox="1"/>
          <p:nvPr/>
        </p:nvSpPr>
        <p:spPr>
          <a:xfrm>
            <a:off x="5561610" y="130628"/>
            <a:ext cx="605642" cy="369332"/>
          </a:xfrm>
          <a:prstGeom prst="rect">
            <a:avLst/>
          </a:prstGeom>
          <a:solidFill>
            <a:schemeClr val="bg1"/>
          </a:solidFill>
        </p:spPr>
        <p:txBody>
          <a:bodyPr wrap="square" rtlCol="0">
            <a:spAutoFit/>
          </a:bodyPr>
          <a:lstStyle/>
          <a:p>
            <a:endParaRPr lang="en-US" dirty="0"/>
          </a:p>
        </p:txBody>
      </p:sp>
      <p:pic>
        <p:nvPicPr>
          <p:cNvPr id="5"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21591" y="477658"/>
            <a:ext cx="1509394" cy="1483566"/>
          </a:xfrm>
          <a:prstGeom prst="rect">
            <a:avLst/>
          </a:prstGeom>
        </p:spPr>
      </p:pic>
    </p:spTree>
    <p:extLst>
      <p:ext uri="{BB962C8B-B14F-4D97-AF65-F5344CB8AC3E}">
        <p14:creationId xmlns:p14="http://schemas.microsoft.com/office/powerpoint/2010/main" val="1372695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with Scope: Q2</a:t>
            </a:r>
          </a:p>
        </p:txBody>
      </p:sp>
      <p:sp>
        <p:nvSpPr>
          <p:cNvPr id="6" name="Content Placeholder 2"/>
          <p:cNvSpPr txBox="1">
            <a:spLocks/>
          </p:cNvSpPr>
          <p:nvPr/>
        </p:nvSpPr>
        <p:spPr>
          <a:xfrm>
            <a:off x="870757" y="1747239"/>
            <a:ext cx="9143999" cy="2139443"/>
          </a:xfrm>
          <a:prstGeom prst="rect">
            <a:avLst/>
          </a:prstGeom>
        </p:spPr>
        <p:txBody>
          <a:bodyPr vert="horz" lIns="0" tIns="45720" rIns="0" bIns="45720" rtlCol="0">
            <a:normAutofit fontScale="925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dirty="0"/>
              <a:t>The Navy is very interested in the effects of sleep deprivation on cognitive ability.  In order to test the effect, the Navy put out a radio advertisement asking for 18 to 35 year old nonsmokers to participate in the study.  The volunteers were then placed in either the control group (no sleep deprivation) or the treatment group (36 hours of sleep deprivation) based on the flip of a fair coin (Heads = Control, Tails = Treatment).  After the data was collected, the sleep deprived group was found to have a significantly lower mean math score than the group not deprived of sleep. What sort of conclusions can be made from this study? In other words, what is the scope of this study (causal inferences and population inferences)?</a:t>
            </a:r>
          </a:p>
          <a:p>
            <a:endParaRPr lang="en-US" dirty="0"/>
          </a:p>
        </p:txBody>
      </p:sp>
      <p:pic>
        <p:nvPicPr>
          <p:cNvPr id="7"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75912" y="536726"/>
            <a:ext cx="1634709" cy="1606736"/>
          </a:xfrm>
          <a:prstGeom prst="rect">
            <a:avLst/>
          </a:prstGeom>
        </p:spPr>
      </p:pic>
    </p:spTree>
    <p:extLst>
      <p:ext uri="{BB962C8B-B14F-4D97-AF65-F5344CB8AC3E}">
        <p14:creationId xmlns:p14="http://schemas.microsoft.com/office/powerpoint/2010/main" val="42285564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7BA85-BAE0-EF40-9EFE-673BAE226153}"/>
              </a:ext>
            </a:extLst>
          </p:cNvPr>
          <p:cNvSpPr>
            <a:spLocks noGrp="1"/>
          </p:cNvSpPr>
          <p:nvPr>
            <p:ph type="title"/>
          </p:nvPr>
        </p:nvSpPr>
        <p:spPr/>
        <p:txBody>
          <a:bodyPr/>
          <a:lstStyle/>
          <a:p>
            <a:r>
              <a:rPr lang="en-US" dirty="0"/>
              <a:t>End Break Out 3</a:t>
            </a:r>
          </a:p>
        </p:txBody>
      </p:sp>
      <p:sp>
        <p:nvSpPr>
          <p:cNvPr id="3" name="Content Placeholder 2">
            <a:extLst>
              <a:ext uri="{FF2B5EF4-FFF2-40B4-BE49-F238E27FC236}">
                <a16:creationId xmlns:a16="http://schemas.microsoft.com/office/drawing/2014/main" id="{5B889696-7BAE-8746-9BEB-FAFA75FE991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8330701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7BA85-BAE0-EF40-9EFE-673BAE226153}"/>
              </a:ext>
            </a:extLst>
          </p:cNvPr>
          <p:cNvSpPr>
            <a:spLocks noGrp="1"/>
          </p:cNvSpPr>
          <p:nvPr>
            <p:ph type="title"/>
          </p:nvPr>
        </p:nvSpPr>
        <p:spPr>
          <a:xfrm>
            <a:off x="609600" y="2286000"/>
            <a:ext cx="10972800" cy="1143000"/>
          </a:xfrm>
        </p:spPr>
        <p:txBody>
          <a:bodyPr/>
          <a:lstStyle/>
          <a:p>
            <a:r>
              <a:rPr lang="en-US" dirty="0"/>
              <a:t>Break Out 4</a:t>
            </a:r>
          </a:p>
        </p:txBody>
      </p:sp>
    </p:spTree>
    <p:extLst>
      <p:ext uri="{BB962C8B-B14F-4D97-AF65-F5344CB8AC3E}">
        <p14:creationId xmlns:p14="http://schemas.microsoft.com/office/powerpoint/2010/main" val="31782726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14B84-89C6-5649-AD53-740FFA319CE5}"/>
              </a:ext>
            </a:extLst>
          </p:cNvPr>
          <p:cNvSpPr>
            <a:spLocks noGrp="1"/>
          </p:cNvSpPr>
          <p:nvPr>
            <p:ph type="title"/>
          </p:nvPr>
        </p:nvSpPr>
        <p:spPr/>
        <p:txBody>
          <a:bodyPr/>
          <a:lstStyle/>
          <a:p>
            <a:r>
              <a:rPr lang="en-US" dirty="0"/>
              <a:t>Question / Activity 5 (2-3 hours)</a:t>
            </a:r>
          </a:p>
        </p:txBody>
      </p:sp>
      <p:sp>
        <p:nvSpPr>
          <p:cNvPr id="3" name="Content Placeholder 2">
            <a:extLst>
              <a:ext uri="{FF2B5EF4-FFF2-40B4-BE49-F238E27FC236}">
                <a16:creationId xmlns:a16="http://schemas.microsoft.com/office/drawing/2014/main" id="{F8605C0C-FC83-BC4C-ADE5-2B8C1868F479}"/>
              </a:ext>
            </a:extLst>
          </p:cNvPr>
          <p:cNvSpPr>
            <a:spLocks noGrp="1"/>
          </p:cNvSpPr>
          <p:nvPr>
            <p:ph idx="1"/>
          </p:nvPr>
        </p:nvSpPr>
        <p:spPr>
          <a:xfrm>
            <a:off x="609600" y="1825625"/>
            <a:ext cx="11201400" cy="4351338"/>
          </a:xfrm>
        </p:spPr>
        <p:txBody>
          <a:bodyPr>
            <a:normAutofit/>
          </a:bodyPr>
          <a:lstStyle/>
          <a:p>
            <a:r>
              <a:rPr lang="en-US" dirty="0"/>
              <a:t>With respect the Creativity Study you read in the Statistical Sleuth, use the code provided to conduct a permutation test to test for a difference in mean score between those motivated intrinsically and extrinsically. </a:t>
            </a:r>
          </a:p>
          <a:p>
            <a:pPr marL="0" indent="0">
              <a:buNone/>
            </a:pPr>
            <a:r>
              <a:rPr lang="en-US" dirty="0"/>
              <a:t>Recommended approach:</a:t>
            </a:r>
          </a:p>
          <a:p>
            <a:pPr lvl="1"/>
            <a:r>
              <a:rPr lang="en-US" sz="1800" dirty="0"/>
              <a:t>Reread the material in the book and really think about it. </a:t>
            </a:r>
          </a:p>
          <a:p>
            <a:pPr lvl="1"/>
            <a:r>
              <a:rPr lang="en-US" sz="1800" dirty="0"/>
              <a:t>Review the code provided and run it a few times … try to make sense of the output and how it is generated.  </a:t>
            </a:r>
          </a:p>
          <a:p>
            <a:pPr lvl="1"/>
            <a:r>
              <a:rPr lang="en-US" sz="1800" dirty="0"/>
              <a:t>Check out the video resource that fully explains the code. </a:t>
            </a:r>
          </a:p>
          <a:p>
            <a:pPr lvl="1"/>
            <a:r>
              <a:rPr lang="en-US" sz="1800" dirty="0"/>
              <a:t>Bring your questions to Live Session and place them at the end of the </a:t>
            </a:r>
            <a:r>
              <a:rPr lang="en-US" sz="1800" dirty="0" err="1"/>
              <a:t>powerpoint</a:t>
            </a:r>
            <a:r>
              <a:rPr lang="en-US" sz="1800" dirty="0"/>
              <a:t> deck.  </a:t>
            </a:r>
          </a:p>
        </p:txBody>
      </p:sp>
    </p:spTree>
    <p:extLst>
      <p:ext uri="{BB962C8B-B14F-4D97-AF65-F5344CB8AC3E}">
        <p14:creationId xmlns:p14="http://schemas.microsoft.com/office/powerpoint/2010/main" val="38122151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7BA85-BAE0-EF40-9EFE-673BAE226153}"/>
              </a:ext>
            </a:extLst>
          </p:cNvPr>
          <p:cNvSpPr>
            <a:spLocks noGrp="1"/>
          </p:cNvSpPr>
          <p:nvPr>
            <p:ph type="title"/>
          </p:nvPr>
        </p:nvSpPr>
        <p:spPr/>
        <p:txBody>
          <a:bodyPr/>
          <a:lstStyle/>
          <a:p>
            <a:r>
              <a:rPr lang="en-US" dirty="0"/>
              <a:t>End Break Out 4</a:t>
            </a:r>
          </a:p>
        </p:txBody>
      </p:sp>
      <p:sp>
        <p:nvSpPr>
          <p:cNvPr id="3" name="Content Placeholder 2">
            <a:extLst>
              <a:ext uri="{FF2B5EF4-FFF2-40B4-BE49-F238E27FC236}">
                <a16:creationId xmlns:a16="http://schemas.microsoft.com/office/drawing/2014/main" id="{5B889696-7BAE-8746-9BEB-FAFA75FE991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8889821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F4CD0-98EF-D5AF-3A3B-00BE82F5B130}"/>
              </a:ext>
            </a:extLst>
          </p:cNvPr>
          <p:cNvSpPr>
            <a:spLocks noGrp="1"/>
          </p:cNvSpPr>
          <p:nvPr>
            <p:ph type="title"/>
          </p:nvPr>
        </p:nvSpPr>
        <p:spPr/>
        <p:txBody>
          <a:bodyPr/>
          <a:lstStyle/>
          <a:p>
            <a:r>
              <a:rPr lang="en-US" dirty="0"/>
              <a:t>Activity 6: For Discussion in Live Session</a:t>
            </a:r>
          </a:p>
        </p:txBody>
      </p:sp>
      <p:sp>
        <p:nvSpPr>
          <p:cNvPr id="3" name="Content Placeholder 2">
            <a:extLst>
              <a:ext uri="{FF2B5EF4-FFF2-40B4-BE49-F238E27FC236}">
                <a16:creationId xmlns:a16="http://schemas.microsoft.com/office/drawing/2014/main" id="{5CC9730E-D2C4-7480-7401-996C18CA328D}"/>
              </a:ext>
            </a:extLst>
          </p:cNvPr>
          <p:cNvSpPr>
            <a:spLocks noGrp="1"/>
          </p:cNvSpPr>
          <p:nvPr>
            <p:ph idx="1"/>
          </p:nvPr>
        </p:nvSpPr>
        <p:spPr/>
        <p:txBody>
          <a:bodyPr/>
          <a:lstStyle/>
          <a:p>
            <a:r>
              <a:rPr lang="en-US" dirty="0"/>
              <a:t>Please check out this 4 min podcast! </a:t>
            </a:r>
          </a:p>
          <a:p>
            <a:r>
              <a:rPr lang="en-US" dirty="0"/>
              <a:t>We will discuss in class! </a:t>
            </a:r>
            <a:r>
              <a:rPr lang="en-US" dirty="0">
                <a:sym typeface="Wingdings" pitchFamily="2" charset="2"/>
              </a:rPr>
              <a:t> </a:t>
            </a:r>
          </a:p>
          <a:p>
            <a:pPr marL="0" indent="0">
              <a:buNone/>
            </a:pPr>
            <a:r>
              <a:rPr lang="en-US" dirty="0">
                <a:hlinkClick r:id="rId2"/>
              </a:rPr>
              <a:t>https://one.npr.org/?sharedMediaId=nx-s1-5928263:nx-s1-9889578</a:t>
            </a:r>
            <a:endParaRPr lang="en-US" dirty="0"/>
          </a:p>
          <a:p>
            <a:endParaRPr lang="en-US" dirty="0"/>
          </a:p>
        </p:txBody>
      </p:sp>
    </p:spTree>
    <p:extLst>
      <p:ext uri="{BB962C8B-B14F-4D97-AF65-F5344CB8AC3E}">
        <p14:creationId xmlns:p14="http://schemas.microsoft.com/office/powerpoint/2010/main" val="39647334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76CAF-641E-A545-AB1E-A0BE7A1FF036}"/>
              </a:ext>
            </a:extLst>
          </p:cNvPr>
          <p:cNvSpPr>
            <a:spLocks noGrp="1"/>
          </p:cNvSpPr>
          <p:nvPr>
            <p:ph type="title"/>
          </p:nvPr>
        </p:nvSpPr>
        <p:spPr/>
        <p:txBody>
          <a:bodyPr/>
          <a:lstStyle/>
          <a:p>
            <a:pPr algn="l"/>
            <a:r>
              <a:rPr lang="en-US" dirty="0"/>
              <a:t>Question 7: Takeaways! (~ 1 Hour)</a:t>
            </a:r>
          </a:p>
        </p:txBody>
      </p:sp>
      <p:sp>
        <p:nvSpPr>
          <p:cNvPr id="3" name="Content Placeholder 2">
            <a:extLst>
              <a:ext uri="{FF2B5EF4-FFF2-40B4-BE49-F238E27FC236}">
                <a16:creationId xmlns:a16="http://schemas.microsoft.com/office/drawing/2014/main" id="{1E3CA146-5F00-F544-97FC-4BDA5AA35C64}"/>
              </a:ext>
            </a:extLst>
          </p:cNvPr>
          <p:cNvSpPr>
            <a:spLocks noGrp="1"/>
          </p:cNvSpPr>
          <p:nvPr>
            <p:ph idx="1"/>
          </p:nvPr>
        </p:nvSpPr>
        <p:spPr>
          <a:xfrm>
            <a:off x="533400" y="1825625"/>
            <a:ext cx="9657945" cy="4351338"/>
          </a:xfrm>
        </p:spPr>
        <p:txBody>
          <a:bodyPr>
            <a:normAutofit fontScale="92500" lnSpcReduction="10000"/>
          </a:bodyPr>
          <a:lstStyle/>
          <a:p>
            <a:pPr marL="0" indent="0">
              <a:buNone/>
            </a:pPr>
            <a:r>
              <a:rPr lang="en-US" dirty="0"/>
              <a:t>Please provide at least 4 takeaways from this section and any questions that you may have.  These questions will help design the live session for this unit.</a:t>
            </a:r>
          </a:p>
          <a:p>
            <a:pPr marL="0" indent="0">
              <a:buNone/>
            </a:pPr>
            <a:r>
              <a:rPr lang="en-US" dirty="0"/>
              <a:t> </a:t>
            </a:r>
          </a:p>
          <a:p>
            <a:pPr marL="0" indent="0">
              <a:buNone/>
            </a:pPr>
            <a:r>
              <a:rPr lang="en-US" sz="2000" i="1" dirty="0"/>
              <a:t>This question will be the last question of every For Live Session Assignment. The idea is that this deck will serve as a document that you can reference in the future to remember what was covered in this section.  For instance, this may come in handy for the Capstone and will hopefully become useful in your career.  Most immediately, it may become handy as a quick reference for your Midterm and Final!  Some students find it very useful and spend a few slides summarizing the </a:t>
            </a:r>
            <a:r>
              <a:rPr lang="en-US" sz="2000" i="1" dirty="0" err="1"/>
              <a:t>asynch</a:t>
            </a:r>
            <a:r>
              <a:rPr lang="en-US" sz="2000" i="1" dirty="0"/>
              <a:t> material while others learn different ways and only had the minimum 4 takeaways.  Either is fine and will earn you full credit for this question.  </a:t>
            </a:r>
          </a:p>
          <a:p>
            <a:pPr marL="0" indent="0">
              <a:buNone/>
            </a:pPr>
            <a:endParaRPr lang="en-US" dirty="0"/>
          </a:p>
        </p:txBody>
      </p:sp>
    </p:spTree>
    <p:extLst>
      <p:ext uri="{BB962C8B-B14F-4D97-AF65-F5344CB8AC3E}">
        <p14:creationId xmlns:p14="http://schemas.microsoft.com/office/powerpoint/2010/main" val="39049287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76CAF-641E-A545-AB1E-A0BE7A1FF036}"/>
              </a:ext>
            </a:extLst>
          </p:cNvPr>
          <p:cNvSpPr>
            <a:spLocks noGrp="1"/>
          </p:cNvSpPr>
          <p:nvPr>
            <p:ph type="title"/>
          </p:nvPr>
        </p:nvSpPr>
        <p:spPr/>
        <p:txBody>
          <a:bodyPr/>
          <a:lstStyle/>
          <a:p>
            <a:pPr algn="l"/>
            <a:r>
              <a:rPr lang="en-US"/>
              <a:t>Question 8: </a:t>
            </a:r>
            <a:r>
              <a:rPr lang="en-US" dirty="0"/>
              <a:t>Questions!</a:t>
            </a:r>
          </a:p>
        </p:txBody>
      </p:sp>
      <p:sp>
        <p:nvSpPr>
          <p:cNvPr id="3" name="Content Placeholder 2">
            <a:extLst>
              <a:ext uri="{FF2B5EF4-FFF2-40B4-BE49-F238E27FC236}">
                <a16:creationId xmlns:a16="http://schemas.microsoft.com/office/drawing/2014/main" id="{1E3CA146-5F00-F544-97FC-4BDA5AA35C64}"/>
              </a:ext>
            </a:extLst>
          </p:cNvPr>
          <p:cNvSpPr>
            <a:spLocks noGrp="1"/>
          </p:cNvSpPr>
          <p:nvPr>
            <p:ph idx="1"/>
          </p:nvPr>
        </p:nvSpPr>
        <p:spPr>
          <a:xfrm>
            <a:off x="609600" y="1905000"/>
            <a:ext cx="10820400" cy="4351338"/>
          </a:xfrm>
        </p:spPr>
        <p:txBody>
          <a:bodyPr>
            <a:normAutofit/>
          </a:bodyPr>
          <a:lstStyle/>
          <a:p>
            <a:pPr marL="0" indent="0">
              <a:buNone/>
            </a:pPr>
            <a:r>
              <a:rPr lang="en-US" dirty="0"/>
              <a:t>Please provide any question or topics of discussion that came up in this Unit!  These will help help us optimize our live session for maximum learning and takeaways!  </a:t>
            </a:r>
          </a:p>
          <a:p>
            <a:pPr marL="0" indent="0">
              <a:buNone/>
            </a:pPr>
            <a:r>
              <a:rPr lang="en-US" dirty="0"/>
              <a:t> </a:t>
            </a:r>
          </a:p>
          <a:p>
            <a:pPr marL="0" indent="0">
              <a:buNone/>
            </a:pPr>
            <a:r>
              <a:rPr lang="en-US" sz="2000" i="1" dirty="0"/>
              <a:t>This question will be the last question of every For Live Session Assignment. The idea is that this deck will serve as a document that you can reference in the future to remember what was covered in this section.  For instance, this may come in handy for the Capstone and will hopefully become useful in your career.  Most immediately, it may become handy as a quick reference for your Midterm and Final!  Some students find it very useful and spend a few slides summarizing the </a:t>
            </a:r>
            <a:r>
              <a:rPr lang="en-US" sz="2000" i="1" dirty="0" err="1"/>
              <a:t>asynch</a:t>
            </a:r>
            <a:r>
              <a:rPr lang="en-US" sz="2000" i="1" dirty="0"/>
              <a:t> material while others learn different ways and only had the minimum 4 takeaways.  Either is fine and will earn you full credit for this question.  </a:t>
            </a:r>
          </a:p>
          <a:p>
            <a:pPr marL="0" indent="0">
              <a:buNone/>
            </a:pPr>
            <a:endParaRPr lang="en-US" dirty="0"/>
          </a:p>
        </p:txBody>
      </p:sp>
    </p:spTree>
    <p:extLst>
      <p:ext uri="{BB962C8B-B14F-4D97-AF65-F5344CB8AC3E}">
        <p14:creationId xmlns:p14="http://schemas.microsoft.com/office/powerpoint/2010/main" val="8749467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2EB7D-47D9-FA4F-BFE5-E42AB39B7E08}"/>
              </a:ext>
            </a:extLst>
          </p:cNvPr>
          <p:cNvSpPr>
            <a:spLocks noGrp="1"/>
          </p:cNvSpPr>
          <p:nvPr>
            <p:ph type="title"/>
          </p:nvPr>
        </p:nvSpPr>
        <p:spPr>
          <a:xfrm>
            <a:off x="609600" y="2590800"/>
            <a:ext cx="10972800" cy="1143000"/>
          </a:xfrm>
        </p:spPr>
        <p:txBody>
          <a:bodyPr/>
          <a:lstStyle/>
          <a:p>
            <a:r>
              <a:rPr lang="en-US" dirty="0"/>
              <a:t>End of For Live Session: Unit 1</a:t>
            </a:r>
          </a:p>
        </p:txBody>
      </p:sp>
    </p:spTree>
    <p:extLst>
      <p:ext uri="{BB962C8B-B14F-4D97-AF65-F5344CB8AC3E}">
        <p14:creationId xmlns:p14="http://schemas.microsoft.com/office/powerpoint/2010/main" val="9689674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793305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34"/>
  <p:tag name="MMPROD_UIDATA" val="&lt;database version=&quot;11.0&quot;&gt;&lt;object type=&quot;1&quot; unique_id=&quot;10001&quot;&gt;&lt;object type=&quot;2&quot; unique_id=&quot;47998&quot;&gt;&lt;object type=&quot;3&quot; unique_id=&quot;47999&quot;&gt;&lt;property id=&quot;20148&quot; value=&quot;5&quot;/&gt;&lt;property id=&quot;20300&quot; value=&quot;Slide 1 - &amp;quot;Insert Title Here&amp;quot;&quot;/&gt;&lt;property id=&quot;20307&quot; value=&quot;269&quot;/&gt;&lt;/object&gt;&lt;object type=&quot;3&quot; unique_id=&quot;48000&quot;&gt;&lt;property id=&quot;20148&quot; value=&quot;5&quot;/&gt;&lt;property id=&quot;20300&quot; value=&quot;Slide 2 - &amp;quot;Header&amp;quot;&quot;/&gt;&lt;property id=&quot;20307&quot; value=&quot;266&quot;/&gt;&lt;/object&gt;&lt;object type=&quot;3&quot; unique_id=&quot;48001&quot;&gt;&lt;property id=&quot;20148&quot; value=&quot;5&quot;/&gt;&lt;property id=&quot;20300&quot; value=&quot;Slide 7&quot;/&gt;&lt;property id=&quot;20307&quot; value=&quot;267&quot;/&gt;&lt;/object&gt;&lt;object type=&quot;3&quot; unique_id=&quot;48032&quot;&gt;&lt;property id=&quot;20148&quot; value=&quot;5&quot;/&gt;&lt;property id=&quot;20300&quot; value=&quot;Slide 3&quot;/&gt;&lt;property id=&quot;20307&quot; value=&quot;270&quot;/&gt;&lt;/object&gt;&lt;object type=&quot;3&quot; unique_id=&quot;48033&quot;&gt;&lt;property id=&quot;20148&quot; value=&quot;5&quot;/&gt;&lt;property id=&quot;20300&quot; value=&quot;Slide 4&quot;/&gt;&lt;property id=&quot;20307&quot; value=&quot;271&quot;/&gt;&lt;/object&gt;&lt;object type=&quot;3&quot; unique_id=&quot;48034&quot;&gt;&lt;property id=&quot;20148&quot; value=&quot;5&quot;/&gt;&lt;property id=&quot;20300&quot; value=&quot;Slide 5&quot;/&gt;&lt;property id=&quot;20307&quot; value=&quot;272&quot;/&gt;&lt;/object&gt;&lt;object type=&quot;3&quot; unique_id=&quot;48035&quot;&gt;&lt;property id=&quot;20148&quot; value=&quot;5&quot;/&gt;&lt;property id=&quot;20300&quot; value=&quot;Slide 6&quot;/&gt;&lt;property id=&quot;20307&quot; value=&quot;273&quot;/&gt;&lt;/object&gt;&lt;/object&gt;&lt;object type=&quot;8&quot; unique_id=&quot;48006&quot;&gt;&lt;/object&gt;&lt;/object&gt;&lt;/database&gt;"/>
  <p:tag name="SECTOMILLISECCONVERTED" val="1"/>
</p:tagLst>
</file>

<file path=ppt/theme/theme1.xml><?xml version="1.0" encoding="utf-8"?>
<a:theme xmlns:a="http://schemas.openxmlformats.org/drawingml/2006/main" name="1_Body Slides">
  <a:themeElements>
    <a:clrScheme name="Southern Methodist University palette">
      <a:dk1>
        <a:srgbClr val="000000"/>
      </a:dk1>
      <a:lt1>
        <a:srgbClr val="FFFFFF"/>
      </a:lt1>
      <a:dk2>
        <a:srgbClr val="303651"/>
      </a:dk2>
      <a:lt2>
        <a:srgbClr val="8EB8E5"/>
      </a:lt2>
      <a:accent1>
        <a:srgbClr val="344CA1"/>
      </a:accent1>
      <a:accent2>
        <a:srgbClr val="DDCBA3"/>
      </a:accent2>
      <a:accent3>
        <a:srgbClr val="CC0034"/>
      </a:accent3>
      <a:accent4>
        <a:srgbClr val="928981"/>
      </a:accent4>
      <a:accent5>
        <a:srgbClr val="F9CA12"/>
      </a:accent5>
      <a:accent6>
        <a:srgbClr val="404041"/>
      </a:accent6>
      <a:hlink>
        <a:srgbClr val="0562C1"/>
      </a:hlink>
      <a:folHlink>
        <a:srgbClr val="0563C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5708</TotalTime>
  <Words>1508</Words>
  <Application>Microsoft Macintosh PowerPoint</Application>
  <PresentationFormat>Widescreen</PresentationFormat>
  <Paragraphs>84</Paragraphs>
  <Slides>28</Slides>
  <Notes>0</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Cambria Math</vt:lpstr>
      <vt:lpstr>Wingdings</vt:lpstr>
      <vt:lpstr>1_Body Slides</vt:lpstr>
      <vt:lpstr>For Live Session Assignment (FLS) </vt:lpstr>
      <vt:lpstr>Philosophy</vt:lpstr>
      <vt:lpstr>Symbols!</vt:lpstr>
      <vt:lpstr>PowerPoint Presentation</vt:lpstr>
      <vt:lpstr> Question 1: Quick Quiz Questions(&lt;= 1 hour)</vt:lpstr>
      <vt:lpstr>Quick Quiz Question 1 (QQ1)</vt:lpstr>
      <vt:lpstr>Quick Quiz Question 2 (QQ2)</vt:lpstr>
      <vt:lpstr>Quick Quiz Question 3 (QQ3)</vt:lpstr>
      <vt:lpstr>Break Out 1</vt:lpstr>
      <vt:lpstr>Question 2 (≤1 hour)</vt:lpstr>
      <vt:lpstr>Question 2 (≤1 hour)</vt:lpstr>
      <vt:lpstr>Question 3 (1 hour)</vt:lpstr>
      <vt:lpstr>End Break Out 1</vt:lpstr>
      <vt:lpstr>Break Out 2</vt:lpstr>
      <vt:lpstr>Question 4 (≤1 hour)</vt:lpstr>
      <vt:lpstr>End Break Out 2</vt:lpstr>
      <vt:lpstr>Break Out 3</vt:lpstr>
      <vt:lpstr>Practice with Scope: Q1</vt:lpstr>
      <vt:lpstr>Practice with Scope: Q2</vt:lpstr>
      <vt:lpstr>End Break Out 3</vt:lpstr>
      <vt:lpstr>Break Out 4</vt:lpstr>
      <vt:lpstr>Question / Activity 5 (2-3 hours)</vt:lpstr>
      <vt:lpstr>End Break Out 4</vt:lpstr>
      <vt:lpstr>Activity 6: For Discussion in Live Session</vt:lpstr>
      <vt:lpstr>Question 7: Takeaways! (~ 1 Hour)</vt:lpstr>
      <vt:lpstr>Question 8: Questions!</vt:lpstr>
      <vt:lpstr>End of For Live Session: Unit 1</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Southern Methodist University</dc:title>
  <dc:subject/>
  <dc:creator>Administrator</dc:creator>
  <cp:keywords/>
  <dc:description/>
  <cp:lastModifiedBy>Sadler, Bivin Philip</cp:lastModifiedBy>
  <cp:revision>233</cp:revision>
  <cp:lastPrinted>2020-09-21T07:53:02Z</cp:lastPrinted>
  <dcterms:created xsi:type="dcterms:W3CDTF">2016-03-21T14:12:59Z</dcterms:created>
  <dcterms:modified xsi:type="dcterms:W3CDTF">2026-08-18T18:54:20Z</dcterms:modified>
  <cp:category/>
</cp:coreProperties>
</file>